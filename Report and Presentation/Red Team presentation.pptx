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7" r:id="rId12"/>
    <p:sldId id="276" r:id="rId13"/>
    <p:sldId id="277" r:id="rId14"/>
    <p:sldId id="278" r:id="rId15"/>
    <p:sldId id="279" r:id="rId16"/>
    <p:sldId id="268" r:id="rId17"/>
    <p:sldId id="275" r:id="rId18"/>
    <p:sldId id="269" r:id="rId19"/>
    <p:sldId id="270" r:id="rId20"/>
    <p:sldId id="272" r:id="rId21"/>
    <p:sldId id="273" r:id="rId22"/>
    <p:sldId id="2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111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4FF6B-C61D-26A6-4B38-07F6DC40478A}"/>
              </a:ext>
            </a:extLst>
          </p:cNvPr>
          <p:cNvSpPr>
            <a:spLocks noGrp="1"/>
          </p:cNvSpPr>
          <p:nvPr>
            <p:ph type="ctrTitle"/>
          </p:nvPr>
        </p:nvSpPr>
        <p:spPr>
          <a:xfrm>
            <a:off x="1524000" y="1122363"/>
            <a:ext cx="9144000" cy="2387600"/>
          </a:xfrm>
        </p:spPr>
        <p:txBody>
          <a:bodyPr anchor="b">
            <a:normAutofit/>
          </a:bodyPr>
          <a:lstStyle>
            <a:lvl1pPr algn="ctr">
              <a:defRPr sz="5400" b="1"/>
            </a:lvl1pPr>
          </a:lstStyle>
          <a:p>
            <a:r>
              <a:rPr lang="en-US" dirty="0"/>
              <a:t>Click to edit Master title style</a:t>
            </a:r>
          </a:p>
        </p:txBody>
      </p:sp>
      <p:sp>
        <p:nvSpPr>
          <p:cNvPr id="3" name="Subtitle 2">
            <a:extLst>
              <a:ext uri="{FF2B5EF4-FFF2-40B4-BE49-F238E27FC236}">
                <a16:creationId xmlns:a16="http://schemas.microsoft.com/office/drawing/2014/main" id="{F4114D69-98CF-FE73-5D8F-AF72BF22EE66}"/>
              </a:ext>
            </a:extLst>
          </p:cNvPr>
          <p:cNvSpPr>
            <a:spLocks noGrp="1"/>
          </p:cNvSpPr>
          <p:nvPr>
            <p:ph type="subTitle" idx="1"/>
          </p:nvPr>
        </p:nvSpPr>
        <p:spPr>
          <a:xfrm>
            <a:off x="1524000" y="3602038"/>
            <a:ext cx="9144000" cy="1655762"/>
          </a:xfrm>
        </p:spPr>
        <p:txBody>
          <a:bodyPr>
            <a:normAutofit/>
          </a:bodyPr>
          <a:lstStyle>
            <a:lvl1pPr marL="0" indent="0" algn="ctr">
              <a:buNone/>
              <a:defRPr sz="3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3EB402B1-8295-01BA-132B-E1CC827B2C2E}"/>
              </a:ext>
            </a:extLst>
          </p:cNvPr>
          <p:cNvSpPr>
            <a:spLocks noGrp="1"/>
          </p:cNvSpPr>
          <p:nvPr>
            <p:ph type="dt" sz="half" idx="10"/>
          </p:nvPr>
        </p:nvSpPr>
        <p:spPr/>
        <p:txBody>
          <a:bodyPr/>
          <a:lstStyle/>
          <a:p>
            <a:fld id="{AB777A0D-7579-4B55-9468-7F92F4BCE002}" type="datetimeFigureOut">
              <a:rPr lang="en-US" smtClean="0"/>
              <a:t>9/29/2026</a:t>
            </a:fld>
            <a:endParaRPr lang="en-US"/>
          </a:p>
        </p:txBody>
      </p:sp>
      <p:sp>
        <p:nvSpPr>
          <p:cNvPr id="5" name="Footer Placeholder 4">
            <a:extLst>
              <a:ext uri="{FF2B5EF4-FFF2-40B4-BE49-F238E27FC236}">
                <a16:creationId xmlns:a16="http://schemas.microsoft.com/office/drawing/2014/main" id="{A5967769-30D6-AE70-2BD5-203F59B84F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DCC2DB-1EE1-81FF-742E-CB6C41BFF13D}"/>
              </a:ext>
            </a:extLst>
          </p:cNvPr>
          <p:cNvSpPr>
            <a:spLocks noGrp="1"/>
          </p:cNvSpPr>
          <p:nvPr>
            <p:ph type="sldNum" sz="quarter" idx="12"/>
          </p:nvPr>
        </p:nvSpPr>
        <p:spPr/>
        <p:txBody>
          <a:bodyPr/>
          <a:lstStyle/>
          <a:p>
            <a:fld id="{5EA543D0-DC8A-492E-9379-93D554373310}" type="slidenum">
              <a:rPr lang="en-US" smtClean="0"/>
              <a:t>‹#›</a:t>
            </a:fld>
            <a:endParaRPr lang="en-US"/>
          </a:p>
        </p:txBody>
      </p:sp>
    </p:spTree>
    <p:extLst>
      <p:ext uri="{BB962C8B-B14F-4D97-AF65-F5344CB8AC3E}">
        <p14:creationId xmlns:p14="http://schemas.microsoft.com/office/powerpoint/2010/main" val="1570250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08C42-5733-A2BE-88ED-E1FCCC13C988}"/>
              </a:ext>
            </a:extLst>
          </p:cNvPr>
          <p:cNvSpPr>
            <a:spLocks noGrp="1"/>
          </p:cNvSpPr>
          <p:nvPr>
            <p:ph type="title"/>
          </p:nvPr>
        </p:nvSpPr>
        <p:spPr/>
        <p:txBody>
          <a:bodyPr>
            <a:normAutofit/>
          </a:bodyPr>
          <a:lstStyle>
            <a:lvl1pPr algn="ctr">
              <a:defRPr sz="5400" b="1"/>
            </a:lvl1pPr>
          </a:lstStyle>
          <a:p>
            <a:r>
              <a:rPr lang="en-US" dirty="0"/>
              <a:t>Click to edit Master title style</a:t>
            </a:r>
          </a:p>
        </p:txBody>
      </p:sp>
      <p:sp>
        <p:nvSpPr>
          <p:cNvPr id="3" name="Content Placeholder 2">
            <a:extLst>
              <a:ext uri="{FF2B5EF4-FFF2-40B4-BE49-F238E27FC236}">
                <a16:creationId xmlns:a16="http://schemas.microsoft.com/office/drawing/2014/main" id="{69311E4C-5BA6-916C-B943-6EDA4F6E94F5}"/>
              </a:ext>
            </a:extLst>
          </p:cNvPr>
          <p:cNvSpPr>
            <a:spLocks noGrp="1"/>
          </p:cNvSpPr>
          <p:nvPr>
            <p:ph idx="1"/>
          </p:nvPr>
        </p:nvSpPr>
        <p:spPr/>
        <p:txBody>
          <a:bodyPr/>
          <a:lstStyle>
            <a:lvl2pPr>
              <a:defRPr sz="36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AE15FC1-B4BD-EB86-41E1-12EE4674D592}"/>
              </a:ext>
            </a:extLst>
          </p:cNvPr>
          <p:cNvSpPr>
            <a:spLocks noGrp="1"/>
          </p:cNvSpPr>
          <p:nvPr>
            <p:ph type="dt" sz="half" idx="10"/>
          </p:nvPr>
        </p:nvSpPr>
        <p:spPr/>
        <p:txBody>
          <a:bodyPr/>
          <a:lstStyle/>
          <a:p>
            <a:fld id="{AB777A0D-7579-4B55-9468-7F92F4BCE002}" type="datetimeFigureOut">
              <a:rPr lang="en-US" smtClean="0"/>
              <a:t>9/29/2026</a:t>
            </a:fld>
            <a:endParaRPr lang="en-US"/>
          </a:p>
        </p:txBody>
      </p:sp>
      <p:sp>
        <p:nvSpPr>
          <p:cNvPr id="5" name="Footer Placeholder 4">
            <a:extLst>
              <a:ext uri="{FF2B5EF4-FFF2-40B4-BE49-F238E27FC236}">
                <a16:creationId xmlns:a16="http://schemas.microsoft.com/office/drawing/2014/main" id="{0359F2C0-F781-7A52-5350-98CD072B93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EFAE18-6416-6AA7-B974-15F0ECE97710}"/>
              </a:ext>
            </a:extLst>
          </p:cNvPr>
          <p:cNvSpPr>
            <a:spLocks noGrp="1"/>
          </p:cNvSpPr>
          <p:nvPr>
            <p:ph type="sldNum" sz="quarter" idx="12"/>
          </p:nvPr>
        </p:nvSpPr>
        <p:spPr/>
        <p:txBody>
          <a:bodyPr/>
          <a:lstStyle/>
          <a:p>
            <a:fld id="{5EA543D0-DC8A-492E-9379-93D554373310}" type="slidenum">
              <a:rPr lang="en-US" smtClean="0"/>
              <a:t>‹#›</a:t>
            </a:fld>
            <a:endParaRPr lang="en-US"/>
          </a:p>
        </p:txBody>
      </p:sp>
    </p:spTree>
    <p:extLst>
      <p:ext uri="{BB962C8B-B14F-4D97-AF65-F5344CB8AC3E}">
        <p14:creationId xmlns:p14="http://schemas.microsoft.com/office/powerpoint/2010/main" val="773259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A49DB-5B5D-5A40-4D30-1E1C19D103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001BF4-DDD6-374A-249B-A44EE67F41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4D6013-EA69-592A-7960-84DCEA422E60}"/>
              </a:ext>
            </a:extLst>
          </p:cNvPr>
          <p:cNvSpPr>
            <a:spLocks noGrp="1"/>
          </p:cNvSpPr>
          <p:nvPr>
            <p:ph type="dt" sz="half" idx="10"/>
          </p:nvPr>
        </p:nvSpPr>
        <p:spPr/>
        <p:txBody>
          <a:bodyPr/>
          <a:lstStyle/>
          <a:p>
            <a:fld id="{AB777A0D-7579-4B55-9468-7F92F4BCE002}" type="datetimeFigureOut">
              <a:rPr lang="en-US" smtClean="0"/>
              <a:t>9/29/2026</a:t>
            </a:fld>
            <a:endParaRPr lang="en-US"/>
          </a:p>
        </p:txBody>
      </p:sp>
      <p:sp>
        <p:nvSpPr>
          <p:cNvPr id="5" name="Footer Placeholder 4">
            <a:extLst>
              <a:ext uri="{FF2B5EF4-FFF2-40B4-BE49-F238E27FC236}">
                <a16:creationId xmlns:a16="http://schemas.microsoft.com/office/drawing/2014/main" id="{833ED8E5-CD14-A8EE-E3CC-69A3569EF3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459AD4-D7ED-6364-242E-9803316E354A}"/>
              </a:ext>
            </a:extLst>
          </p:cNvPr>
          <p:cNvSpPr>
            <a:spLocks noGrp="1"/>
          </p:cNvSpPr>
          <p:nvPr>
            <p:ph type="sldNum" sz="quarter" idx="12"/>
          </p:nvPr>
        </p:nvSpPr>
        <p:spPr/>
        <p:txBody>
          <a:bodyPr/>
          <a:lstStyle/>
          <a:p>
            <a:fld id="{5EA543D0-DC8A-492E-9379-93D554373310}" type="slidenum">
              <a:rPr lang="en-US" smtClean="0"/>
              <a:t>‹#›</a:t>
            </a:fld>
            <a:endParaRPr lang="en-US"/>
          </a:p>
        </p:txBody>
      </p:sp>
    </p:spTree>
    <p:extLst>
      <p:ext uri="{BB962C8B-B14F-4D97-AF65-F5344CB8AC3E}">
        <p14:creationId xmlns:p14="http://schemas.microsoft.com/office/powerpoint/2010/main" val="3912577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D63C9-1C3B-1D71-8B33-EFD7613470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860823-375F-65DE-70A6-6F6627AAC6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E77A9F-D3F4-1DBB-927F-D850F4C543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65F400-7FAA-3AF8-18F9-DAE488A2596F}"/>
              </a:ext>
            </a:extLst>
          </p:cNvPr>
          <p:cNvSpPr>
            <a:spLocks noGrp="1"/>
          </p:cNvSpPr>
          <p:nvPr>
            <p:ph type="dt" sz="half" idx="10"/>
          </p:nvPr>
        </p:nvSpPr>
        <p:spPr/>
        <p:txBody>
          <a:bodyPr/>
          <a:lstStyle/>
          <a:p>
            <a:fld id="{AB777A0D-7579-4B55-9468-7F92F4BCE002}" type="datetimeFigureOut">
              <a:rPr lang="en-US" smtClean="0"/>
              <a:t>9/29/2026</a:t>
            </a:fld>
            <a:endParaRPr lang="en-US"/>
          </a:p>
        </p:txBody>
      </p:sp>
      <p:sp>
        <p:nvSpPr>
          <p:cNvPr id="6" name="Footer Placeholder 5">
            <a:extLst>
              <a:ext uri="{FF2B5EF4-FFF2-40B4-BE49-F238E27FC236}">
                <a16:creationId xmlns:a16="http://schemas.microsoft.com/office/drawing/2014/main" id="{991734EB-1B25-21ED-B2B4-0B4578D075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1106B0-90E6-522B-C2A6-DFCC911C01B0}"/>
              </a:ext>
            </a:extLst>
          </p:cNvPr>
          <p:cNvSpPr>
            <a:spLocks noGrp="1"/>
          </p:cNvSpPr>
          <p:nvPr>
            <p:ph type="sldNum" sz="quarter" idx="12"/>
          </p:nvPr>
        </p:nvSpPr>
        <p:spPr/>
        <p:txBody>
          <a:bodyPr/>
          <a:lstStyle/>
          <a:p>
            <a:fld id="{5EA543D0-DC8A-492E-9379-93D554373310}" type="slidenum">
              <a:rPr lang="en-US" smtClean="0"/>
              <a:t>‹#›</a:t>
            </a:fld>
            <a:endParaRPr lang="en-US"/>
          </a:p>
        </p:txBody>
      </p:sp>
    </p:spTree>
    <p:extLst>
      <p:ext uri="{BB962C8B-B14F-4D97-AF65-F5344CB8AC3E}">
        <p14:creationId xmlns:p14="http://schemas.microsoft.com/office/powerpoint/2010/main" val="3894258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3831C-36E4-A348-AECF-7730B635F36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607A77-0468-AAED-1DB5-462F913842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ABD3AD-2BF3-11CE-DFB0-E9DA01F7CD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FECC76-3342-D3A2-13C9-AA04F133AF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1709F4-3697-7F47-C63D-E82E9641FA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6F0D53-29DE-994D-668F-C557FE23F14D}"/>
              </a:ext>
            </a:extLst>
          </p:cNvPr>
          <p:cNvSpPr>
            <a:spLocks noGrp="1"/>
          </p:cNvSpPr>
          <p:nvPr>
            <p:ph type="dt" sz="half" idx="10"/>
          </p:nvPr>
        </p:nvSpPr>
        <p:spPr/>
        <p:txBody>
          <a:bodyPr/>
          <a:lstStyle/>
          <a:p>
            <a:fld id="{AB777A0D-7579-4B55-9468-7F92F4BCE002}" type="datetimeFigureOut">
              <a:rPr lang="en-US" smtClean="0"/>
              <a:t>9/29/2026</a:t>
            </a:fld>
            <a:endParaRPr lang="en-US"/>
          </a:p>
        </p:txBody>
      </p:sp>
      <p:sp>
        <p:nvSpPr>
          <p:cNvPr id="8" name="Footer Placeholder 7">
            <a:extLst>
              <a:ext uri="{FF2B5EF4-FFF2-40B4-BE49-F238E27FC236}">
                <a16:creationId xmlns:a16="http://schemas.microsoft.com/office/drawing/2014/main" id="{B7444D7B-6693-289A-4E77-FD269AD17F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2E3C4C-DDDC-043C-DEF5-F03969200C0C}"/>
              </a:ext>
            </a:extLst>
          </p:cNvPr>
          <p:cNvSpPr>
            <a:spLocks noGrp="1"/>
          </p:cNvSpPr>
          <p:nvPr>
            <p:ph type="sldNum" sz="quarter" idx="12"/>
          </p:nvPr>
        </p:nvSpPr>
        <p:spPr/>
        <p:txBody>
          <a:bodyPr/>
          <a:lstStyle/>
          <a:p>
            <a:fld id="{5EA543D0-DC8A-492E-9379-93D554373310}" type="slidenum">
              <a:rPr lang="en-US" smtClean="0"/>
              <a:t>‹#›</a:t>
            </a:fld>
            <a:endParaRPr lang="en-US"/>
          </a:p>
        </p:txBody>
      </p:sp>
    </p:spTree>
    <p:extLst>
      <p:ext uri="{BB962C8B-B14F-4D97-AF65-F5344CB8AC3E}">
        <p14:creationId xmlns:p14="http://schemas.microsoft.com/office/powerpoint/2010/main" val="2463964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5FDC4-318F-D7DB-8EF1-194EEF7470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A7EB5C-AFDD-F86C-88FA-23F7B8DE88CB}"/>
              </a:ext>
            </a:extLst>
          </p:cNvPr>
          <p:cNvSpPr>
            <a:spLocks noGrp="1"/>
          </p:cNvSpPr>
          <p:nvPr>
            <p:ph type="dt" sz="half" idx="10"/>
          </p:nvPr>
        </p:nvSpPr>
        <p:spPr/>
        <p:txBody>
          <a:bodyPr/>
          <a:lstStyle/>
          <a:p>
            <a:fld id="{AB777A0D-7579-4B55-9468-7F92F4BCE002}" type="datetimeFigureOut">
              <a:rPr lang="en-US" smtClean="0"/>
              <a:t>9/29/2026</a:t>
            </a:fld>
            <a:endParaRPr lang="en-US"/>
          </a:p>
        </p:txBody>
      </p:sp>
      <p:sp>
        <p:nvSpPr>
          <p:cNvPr id="4" name="Footer Placeholder 3">
            <a:extLst>
              <a:ext uri="{FF2B5EF4-FFF2-40B4-BE49-F238E27FC236}">
                <a16:creationId xmlns:a16="http://schemas.microsoft.com/office/drawing/2014/main" id="{02713B08-C9E4-BBEF-DC14-C7771370177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1461307-FEBE-DBE2-D53E-ACE5D40EA2ED}"/>
              </a:ext>
            </a:extLst>
          </p:cNvPr>
          <p:cNvSpPr>
            <a:spLocks noGrp="1"/>
          </p:cNvSpPr>
          <p:nvPr>
            <p:ph type="sldNum" sz="quarter" idx="12"/>
          </p:nvPr>
        </p:nvSpPr>
        <p:spPr/>
        <p:txBody>
          <a:bodyPr/>
          <a:lstStyle/>
          <a:p>
            <a:fld id="{5EA543D0-DC8A-492E-9379-93D554373310}" type="slidenum">
              <a:rPr lang="en-US" smtClean="0"/>
              <a:t>‹#›</a:t>
            </a:fld>
            <a:endParaRPr lang="en-US"/>
          </a:p>
        </p:txBody>
      </p:sp>
    </p:spTree>
    <p:extLst>
      <p:ext uri="{BB962C8B-B14F-4D97-AF65-F5344CB8AC3E}">
        <p14:creationId xmlns:p14="http://schemas.microsoft.com/office/powerpoint/2010/main" val="1149410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DF3F79-F244-F6D7-20B2-5B263CB6E601}"/>
              </a:ext>
            </a:extLst>
          </p:cNvPr>
          <p:cNvSpPr>
            <a:spLocks noGrp="1"/>
          </p:cNvSpPr>
          <p:nvPr>
            <p:ph type="dt" sz="half" idx="10"/>
          </p:nvPr>
        </p:nvSpPr>
        <p:spPr/>
        <p:txBody>
          <a:bodyPr/>
          <a:lstStyle/>
          <a:p>
            <a:fld id="{AB777A0D-7579-4B55-9468-7F92F4BCE002}" type="datetimeFigureOut">
              <a:rPr lang="en-US" smtClean="0"/>
              <a:t>9/29/2026</a:t>
            </a:fld>
            <a:endParaRPr lang="en-US"/>
          </a:p>
        </p:txBody>
      </p:sp>
      <p:sp>
        <p:nvSpPr>
          <p:cNvPr id="3" name="Footer Placeholder 2">
            <a:extLst>
              <a:ext uri="{FF2B5EF4-FFF2-40B4-BE49-F238E27FC236}">
                <a16:creationId xmlns:a16="http://schemas.microsoft.com/office/drawing/2014/main" id="{CD943A58-A07E-FF53-CBBF-68370640A44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2CCC77-9FF8-7AEE-CBAC-433918B76FBE}"/>
              </a:ext>
            </a:extLst>
          </p:cNvPr>
          <p:cNvSpPr>
            <a:spLocks noGrp="1"/>
          </p:cNvSpPr>
          <p:nvPr>
            <p:ph type="sldNum" sz="quarter" idx="12"/>
          </p:nvPr>
        </p:nvSpPr>
        <p:spPr/>
        <p:txBody>
          <a:bodyPr/>
          <a:lstStyle/>
          <a:p>
            <a:fld id="{5EA543D0-DC8A-492E-9379-93D554373310}" type="slidenum">
              <a:rPr lang="en-US" smtClean="0"/>
              <a:t>‹#›</a:t>
            </a:fld>
            <a:endParaRPr lang="en-US"/>
          </a:p>
        </p:txBody>
      </p:sp>
    </p:spTree>
    <p:extLst>
      <p:ext uri="{BB962C8B-B14F-4D97-AF65-F5344CB8AC3E}">
        <p14:creationId xmlns:p14="http://schemas.microsoft.com/office/powerpoint/2010/main" val="3906650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590E9-7157-FFD0-ECF3-B7AB502E37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A277DC2-CDCB-18A8-D04A-36779F47B8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F0E9C7-B824-7230-8F6D-FD623DFDC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0EE624-8C8B-8863-F5C4-50E174B9CFC4}"/>
              </a:ext>
            </a:extLst>
          </p:cNvPr>
          <p:cNvSpPr>
            <a:spLocks noGrp="1"/>
          </p:cNvSpPr>
          <p:nvPr>
            <p:ph type="dt" sz="half" idx="10"/>
          </p:nvPr>
        </p:nvSpPr>
        <p:spPr/>
        <p:txBody>
          <a:bodyPr/>
          <a:lstStyle/>
          <a:p>
            <a:fld id="{AB777A0D-7579-4B55-9468-7F92F4BCE002}" type="datetimeFigureOut">
              <a:rPr lang="en-US" smtClean="0"/>
              <a:t>9/29/2026</a:t>
            </a:fld>
            <a:endParaRPr lang="en-US"/>
          </a:p>
        </p:txBody>
      </p:sp>
      <p:sp>
        <p:nvSpPr>
          <p:cNvPr id="6" name="Footer Placeholder 5">
            <a:extLst>
              <a:ext uri="{FF2B5EF4-FFF2-40B4-BE49-F238E27FC236}">
                <a16:creationId xmlns:a16="http://schemas.microsoft.com/office/drawing/2014/main" id="{528AC58C-BEA4-075E-8333-C08EB5C142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6B9B28-6A91-34DD-1CA3-E52EF2BBFF9B}"/>
              </a:ext>
            </a:extLst>
          </p:cNvPr>
          <p:cNvSpPr>
            <a:spLocks noGrp="1"/>
          </p:cNvSpPr>
          <p:nvPr>
            <p:ph type="sldNum" sz="quarter" idx="12"/>
          </p:nvPr>
        </p:nvSpPr>
        <p:spPr/>
        <p:txBody>
          <a:bodyPr/>
          <a:lstStyle/>
          <a:p>
            <a:fld id="{5EA543D0-DC8A-492E-9379-93D554373310}" type="slidenum">
              <a:rPr lang="en-US" smtClean="0"/>
              <a:t>‹#›</a:t>
            </a:fld>
            <a:endParaRPr lang="en-US"/>
          </a:p>
        </p:txBody>
      </p:sp>
    </p:spTree>
    <p:extLst>
      <p:ext uri="{BB962C8B-B14F-4D97-AF65-F5344CB8AC3E}">
        <p14:creationId xmlns:p14="http://schemas.microsoft.com/office/powerpoint/2010/main" val="2620278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3015F-AF90-4E4B-4723-B5710BEA31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2A8356-038C-CA7C-D862-81C779FFEE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407BC2-E136-FC1B-C5F1-81117A34D7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7CCD14-0611-CF62-4880-BBBE993AFC00}"/>
              </a:ext>
            </a:extLst>
          </p:cNvPr>
          <p:cNvSpPr>
            <a:spLocks noGrp="1"/>
          </p:cNvSpPr>
          <p:nvPr>
            <p:ph type="dt" sz="half" idx="10"/>
          </p:nvPr>
        </p:nvSpPr>
        <p:spPr/>
        <p:txBody>
          <a:bodyPr/>
          <a:lstStyle/>
          <a:p>
            <a:fld id="{AB777A0D-7579-4B55-9468-7F92F4BCE002}" type="datetimeFigureOut">
              <a:rPr lang="en-US" smtClean="0"/>
              <a:t>9/29/2026</a:t>
            </a:fld>
            <a:endParaRPr lang="en-US"/>
          </a:p>
        </p:txBody>
      </p:sp>
      <p:sp>
        <p:nvSpPr>
          <p:cNvPr id="6" name="Footer Placeholder 5">
            <a:extLst>
              <a:ext uri="{FF2B5EF4-FFF2-40B4-BE49-F238E27FC236}">
                <a16:creationId xmlns:a16="http://schemas.microsoft.com/office/drawing/2014/main" id="{21AFF2BC-E73B-4142-9FC0-E7FD265AD7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5BD88C-5101-D02D-F212-A32239D97B65}"/>
              </a:ext>
            </a:extLst>
          </p:cNvPr>
          <p:cNvSpPr>
            <a:spLocks noGrp="1"/>
          </p:cNvSpPr>
          <p:nvPr>
            <p:ph type="sldNum" sz="quarter" idx="12"/>
          </p:nvPr>
        </p:nvSpPr>
        <p:spPr/>
        <p:txBody>
          <a:bodyPr/>
          <a:lstStyle/>
          <a:p>
            <a:fld id="{5EA543D0-DC8A-492E-9379-93D554373310}" type="slidenum">
              <a:rPr lang="en-US" smtClean="0"/>
              <a:t>‹#›</a:t>
            </a:fld>
            <a:endParaRPr lang="en-US"/>
          </a:p>
        </p:txBody>
      </p:sp>
    </p:spTree>
    <p:extLst>
      <p:ext uri="{BB962C8B-B14F-4D97-AF65-F5344CB8AC3E}">
        <p14:creationId xmlns:p14="http://schemas.microsoft.com/office/powerpoint/2010/main" val="4132553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42CCF-C73C-0F41-64CC-0841E332B5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66E17C-DCC1-BE9D-15F9-163E0151F0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404120-15DA-6A3B-0B67-0355935EC112}"/>
              </a:ext>
            </a:extLst>
          </p:cNvPr>
          <p:cNvSpPr>
            <a:spLocks noGrp="1"/>
          </p:cNvSpPr>
          <p:nvPr>
            <p:ph type="dt" sz="half" idx="10"/>
          </p:nvPr>
        </p:nvSpPr>
        <p:spPr/>
        <p:txBody>
          <a:bodyPr/>
          <a:lstStyle/>
          <a:p>
            <a:fld id="{AB777A0D-7579-4B55-9468-7F92F4BCE002}" type="datetimeFigureOut">
              <a:rPr lang="en-US" smtClean="0"/>
              <a:t>9/29/2026</a:t>
            </a:fld>
            <a:endParaRPr lang="en-US"/>
          </a:p>
        </p:txBody>
      </p:sp>
      <p:sp>
        <p:nvSpPr>
          <p:cNvPr id="5" name="Footer Placeholder 4">
            <a:extLst>
              <a:ext uri="{FF2B5EF4-FFF2-40B4-BE49-F238E27FC236}">
                <a16:creationId xmlns:a16="http://schemas.microsoft.com/office/drawing/2014/main" id="{A24017E4-31C4-EFC0-3F1E-BCAD5B585F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68FE9A-ADEC-CE8E-FEA6-43485D4811C8}"/>
              </a:ext>
            </a:extLst>
          </p:cNvPr>
          <p:cNvSpPr>
            <a:spLocks noGrp="1"/>
          </p:cNvSpPr>
          <p:nvPr>
            <p:ph type="sldNum" sz="quarter" idx="12"/>
          </p:nvPr>
        </p:nvSpPr>
        <p:spPr/>
        <p:txBody>
          <a:bodyPr/>
          <a:lstStyle/>
          <a:p>
            <a:fld id="{5EA543D0-DC8A-492E-9379-93D554373310}" type="slidenum">
              <a:rPr lang="en-US" smtClean="0"/>
              <a:t>‹#›</a:t>
            </a:fld>
            <a:endParaRPr lang="en-US"/>
          </a:p>
        </p:txBody>
      </p:sp>
    </p:spTree>
    <p:extLst>
      <p:ext uri="{BB962C8B-B14F-4D97-AF65-F5344CB8AC3E}">
        <p14:creationId xmlns:p14="http://schemas.microsoft.com/office/powerpoint/2010/main" val="593889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F9C6DD-1381-1D11-47E0-E33845A08D2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F9DDAC-40B0-FFCB-636A-4DBA9BC83B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2F499B-801E-928E-A436-0381E3F80C28}"/>
              </a:ext>
            </a:extLst>
          </p:cNvPr>
          <p:cNvSpPr>
            <a:spLocks noGrp="1"/>
          </p:cNvSpPr>
          <p:nvPr>
            <p:ph type="dt" sz="half" idx="10"/>
          </p:nvPr>
        </p:nvSpPr>
        <p:spPr/>
        <p:txBody>
          <a:bodyPr/>
          <a:lstStyle/>
          <a:p>
            <a:fld id="{AB777A0D-7579-4B55-9468-7F92F4BCE002}" type="datetimeFigureOut">
              <a:rPr lang="en-US" smtClean="0"/>
              <a:t>9/29/2026</a:t>
            </a:fld>
            <a:endParaRPr lang="en-US"/>
          </a:p>
        </p:txBody>
      </p:sp>
      <p:sp>
        <p:nvSpPr>
          <p:cNvPr id="5" name="Footer Placeholder 4">
            <a:extLst>
              <a:ext uri="{FF2B5EF4-FFF2-40B4-BE49-F238E27FC236}">
                <a16:creationId xmlns:a16="http://schemas.microsoft.com/office/drawing/2014/main" id="{FA6E39D0-1354-8055-7903-2AC92961F5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0279C1-3BDD-4CD0-3587-A1446F1A9A51}"/>
              </a:ext>
            </a:extLst>
          </p:cNvPr>
          <p:cNvSpPr>
            <a:spLocks noGrp="1"/>
          </p:cNvSpPr>
          <p:nvPr>
            <p:ph type="sldNum" sz="quarter" idx="12"/>
          </p:nvPr>
        </p:nvSpPr>
        <p:spPr/>
        <p:txBody>
          <a:bodyPr/>
          <a:lstStyle/>
          <a:p>
            <a:fld id="{5EA543D0-DC8A-492E-9379-93D554373310}" type="slidenum">
              <a:rPr lang="en-US" smtClean="0"/>
              <a:t>‹#›</a:t>
            </a:fld>
            <a:endParaRPr lang="en-US"/>
          </a:p>
        </p:txBody>
      </p:sp>
    </p:spTree>
    <p:extLst>
      <p:ext uri="{BB962C8B-B14F-4D97-AF65-F5344CB8AC3E}">
        <p14:creationId xmlns:p14="http://schemas.microsoft.com/office/powerpoint/2010/main" val="2551848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70482D-0A5B-3F26-DBCA-ED5D43C25F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6C88B36-E156-036A-1660-A09F8628E3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6DFA365-90C5-68FA-67F9-4122B52CCC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777A0D-7579-4B55-9468-7F92F4BCE002}" type="datetimeFigureOut">
              <a:rPr lang="en-US" smtClean="0"/>
              <a:t>9/29/2026</a:t>
            </a:fld>
            <a:endParaRPr lang="en-US"/>
          </a:p>
        </p:txBody>
      </p:sp>
      <p:sp>
        <p:nvSpPr>
          <p:cNvPr id="5" name="Footer Placeholder 4">
            <a:extLst>
              <a:ext uri="{FF2B5EF4-FFF2-40B4-BE49-F238E27FC236}">
                <a16:creationId xmlns:a16="http://schemas.microsoft.com/office/drawing/2014/main" id="{A8930D5F-616F-66D3-79AF-04BBBBB4BD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0FA935A-D6D3-A463-6F56-39FED805C4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543D0-DC8A-492E-9379-93D554373310}" type="slidenum">
              <a:rPr lang="en-US" smtClean="0"/>
              <a:t>‹#›</a:t>
            </a:fld>
            <a:endParaRPr lang="en-US"/>
          </a:p>
        </p:txBody>
      </p:sp>
    </p:spTree>
    <p:extLst>
      <p:ext uri="{BB962C8B-B14F-4D97-AF65-F5344CB8AC3E}">
        <p14:creationId xmlns:p14="http://schemas.microsoft.com/office/powerpoint/2010/main" val="7367182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8FF4A-1773-8406-3D99-DB5AE46CDAC2}"/>
              </a:ext>
            </a:extLst>
          </p:cNvPr>
          <p:cNvSpPr>
            <a:spLocks noGrp="1"/>
          </p:cNvSpPr>
          <p:nvPr>
            <p:ph type="ctrTitle"/>
          </p:nvPr>
        </p:nvSpPr>
        <p:spPr>
          <a:xfrm>
            <a:off x="1524000" y="1122363"/>
            <a:ext cx="9144000" cy="2387600"/>
          </a:xfrm>
        </p:spPr>
        <p:txBody>
          <a:bodyPr>
            <a:normAutofit/>
          </a:bodyPr>
          <a:lstStyle/>
          <a:p>
            <a:r>
              <a:rPr lang="en-US" dirty="0"/>
              <a:t>AI Security Red Team Assessment Report</a:t>
            </a:r>
          </a:p>
        </p:txBody>
      </p:sp>
      <p:sp>
        <p:nvSpPr>
          <p:cNvPr id="3" name="Subtitle 2">
            <a:extLst>
              <a:ext uri="{FF2B5EF4-FFF2-40B4-BE49-F238E27FC236}">
                <a16:creationId xmlns:a16="http://schemas.microsoft.com/office/drawing/2014/main" id="{1ED65D75-0734-4A57-A442-6174940C0286}"/>
              </a:ext>
            </a:extLst>
          </p:cNvPr>
          <p:cNvSpPr>
            <a:spLocks noGrp="1"/>
          </p:cNvSpPr>
          <p:nvPr>
            <p:ph type="subTitle" idx="1"/>
          </p:nvPr>
        </p:nvSpPr>
        <p:spPr>
          <a:xfrm>
            <a:off x="1524000" y="3602038"/>
            <a:ext cx="9144000" cy="1655762"/>
          </a:xfrm>
        </p:spPr>
        <p:txBody>
          <a:bodyPr/>
          <a:lstStyle/>
          <a:p>
            <a:r>
              <a:rPr lang="en-US" dirty="0"/>
              <a:t>Kanrabit  Chala</a:t>
            </a:r>
          </a:p>
        </p:txBody>
      </p:sp>
    </p:spTree>
    <p:extLst>
      <p:ext uri="{BB962C8B-B14F-4D97-AF65-F5344CB8AC3E}">
        <p14:creationId xmlns:p14="http://schemas.microsoft.com/office/powerpoint/2010/main" val="3362079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AA29A-06F1-5ABF-F41D-362E6A6BCB0A}"/>
              </a:ext>
            </a:extLst>
          </p:cNvPr>
          <p:cNvSpPr>
            <a:spLocks noGrp="1"/>
          </p:cNvSpPr>
          <p:nvPr>
            <p:ph type="title"/>
          </p:nvPr>
        </p:nvSpPr>
        <p:spPr>
          <a:xfrm>
            <a:off x="838200" y="365125"/>
            <a:ext cx="10515600" cy="1325563"/>
          </a:xfrm>
        </p:spPr>
        <p:txBody>
          <a:bodyPr>
            <a:normAutofit/>
          </a:bodyPr>
          <a:lstStyle/>
          <a:p>
            <a:r>
              <a:rPr lang="en-US" dirty="0"/>
              <a:t>A. Executive Summary</a:t>
            </a:r>
          </a:p>
        </p:txBody>
      </p:sp>
      <p:sp>
        <p:nvSpPr>
          <p:cNvPr id="3" name="Content Placeholder 2">
            <a:extLst>
              <a:ext uri="{FF2B5EF4-FFF2-40B4-BE49-F238E27FC236}">
                <a16:creationId xmlns:a16="http://schemas.microsoft.com/office/drawing/2014/main" id="{9B012CF0-1667-A5A7-DCB5-34EF277D9FB0}"/>
              </a:ext>
            </a:extLst>
          </p:cNvPr>
          <p:cNvSpPr>
            <a:spLocks noGrp="1"/>
          </p:cNvSpPr>
          <p:nvPr>
            <p:ph idx="1"/>
          </p:nvPr>
        </p:nvSpPr>
        <p:spPr>
          <a:xfrm>
            <a:off x="838200" y="1825625"/>
            <a:ext cx="10515600" cy="4351338"/>
          </a:xfrm>
        </p:spPr>
        <p:txBody>
          <a:bodyPr>
            <a:normAutofit/>
          </a:bodyPr>
          <a:lstStyle/>
          <a:p>
            <a:r>
              <a:rPr lang="en-US" dirty="0"/>
              <a:t>This project presents a red team security assessment of image classification AI system. </a:t>
            </a:r>
          </a:p>
          <a:p>
            <a:r>
              <a:rPr lang="en-US" dirty="0"/>
              <a:t>The target consists of MNIST datasets focused on adversarial machine-learning attacks and weaknesses in the model-serving pipeline.</a:t>
            </a:r>
          </a:p>
          <a:p>
            <a:r>
              <a:rPr lang="en-US" dirty="0"/>
              <a:t>Two attack scenarios were investigated against the locally owned model.</a:t>
            </a:r>
          </a:p>
        </p:txBody>
      </p:sp>
    </p:spTree>
    <p:extLst>
      <p:ext uri="{BB962C8B-B14F-4D97-AF65-F5344CB8AC3E}">
        <p14:creationId xmlns:p14="http://schemas.microsoft.com/office/powerpoint/2010/main" val="3436019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E54D9-1612-3DE4-FAD5-85369468E9FE}"/>
              </a:ext>
            </a:extLst>
          </p:cNvPr>
          <p:cNvSpPr>
            <a:spLocks noGrp="1"/>
          </p:cNvSpPr>
          <p:nvPr>
            <p:ph type="title"/>
          </p:nvPr>
        </p:nvSpPr>
        <p:spPr>
          <a:xfrm>
            <a:off x="838200" y="365125"/>
            <a:ext cx="10515600" cy="1325563"/>
          </a:xfrm>
        </p:spPr>
        <p:txBody>
          <a:bodyPr>
            <a:normAutofit/>
          </a:bodyPr>
          <a:lstStyle/>
          <a:p>
            <a:r>
              <a:rPr lang="en-US" dirty="0"/>
              <a:t>B. Objectives</a:t>
            </a:r>
          </a:p>
        </p:txBody>
      </p:sp>
      <p:sp>
        <p:nvSpPr>
          <p:cNvPr id="3" name="Content Placeholder 2">
            <a:extLst>
              <a:ext uri="{FF2B5EF4-FFF2-40B4-BE49-F238E27FC236}">
                <a16:creationId xmlns:a16="http://schemas.microsoft.com/office/drawing/2014/main" id="{25CFD627-8DDF-73BF-B134-23F1C70F8348}"/>
              </a:ext>
            </a:extLst>
          </p:cNvPr>
          <p:cNvSpPr>
            <a:spLocks noGrp="1"/>
          </p:cNvSpPr>
          <p:nvPr>
            <p:ph idx="1"/>
          </p:nvPr>
        </p:nvSpPr>
        <p:spPr>
          <a:xfrm>
            <a:off x="838200" y="1825625"/>
            <a:ext cx="10515600" cy="4351338"/>
          </a:xfrm>
        </p:spPr>
        <p:txBody>
          <a:bodyPr>
            <a:normAutofit/>
          </a:bodyPr>
          <a:lstStyle/>
          <a:p>
            <a:r>
              <a:rPr lang="en-US" dirty="0"/>
              <a:t>Build image classification AI system.</a:t>
            </a:r>
          </a:p>
          <a:p>
            <a:r>
              <a:rPr lang="en-US" dirty="0"/>
              <a:t>Perform adversarial security testing.</a:t>
            </a:r>
          </a:p>
          <a:p>
            <a:r>
              <a:rPr lang="en-US" dirty="0"/>
              <a:t>Demonstrate successful attacks.</a:t>
            </a:r>
          </a:p>
          <a:p>
            <a:r>
              <a:rPr lang="en-US" dirty="0"/>
              <a:t>Identify metadata weaknesses</a:t>
            </a:r>
          </a:p>
          <a:p>
            <a:r>
              <a:rPr lang="en-US" dirty="0"/>
              <a:t>Propose security mitigations</a:t>
            </a:r>
          </a:p>
        </p:txBody>
      </p:sp>
    </p:spTree>
    <p:extLst>
      <p:ext uri="{BB962C8B-B14F-4D97-AF65-F5344CB8AC3E}">
        <p14:creationId xmlns:p14="http://schemas.microsoft.com/office/powerpoint/2010/main" val="2824852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A3172-D9C8-561C-DBAA-3AE656A93B0E}"/>
              </a:ext>
            </a:extLst>
          </p:cNvPr>
          <p:cNvSpPr>
            <a:spLocks noGrp="1"/>
          </p:cNvSpPr>
          <p:nvPr>
            <p:ph type="title"/>
          </p:nvPr>
        </p:nvSpPr>
        <p:spPr/>
        <p:txBody>
          <a:bodyPr>
            <a:normAutofit/>
          </a:bodyPr>
          <a:lstStyle/>
          <a:p>
            <a:r>
              <a:rPr lang="en-US" dirty="0"/>
              <a:t>C. System overview</a:t>
            </a:r>
          </a:p>
        </p:txBody>
      </p:sp>
      <p:sp>
        <p:nvSpPr>
          <p:cNvPr id="3" name="Content Placeholder 2">
            <a:extLst>
              <a:ext uri="{FF2B5EF4-FFF2-40B4-BE49-F238E27FC236}">
                <a16:creationId xmlns:a16="http://schemas.microsoft.com/office/drawing/2014/main" id="{7DC4DBF9-2107-1A95-8F0F-63D7A6283B06}"/>
              </a:ext>
            </a:extLst>
          </p:cNvPr>
          <p:cNvSpPr>
            <a:spLocks noGrp="1"/>
          </p:cNvSpPr>
          <p:nvPr>
            <p:ph idx="1"/>
          </p:nvPr>
        </p:nvSpPr>
        <p:spPr>
          <a:xfrm>
            <a:off x="838200" y="1825625"/>
            <a:ext cx="10515600" cy="4667250"/>
          </a:xfrm>
        </p:spPr>
        <p:txBody>
          <a:bodyPr>
            <a:normAutofit fontScale="25000" lnSpcReduction="20000"/>
          </a:bodyPr>
          <a:lstStyle/>
          <a:p>
            <a:pPr marL="0" lvl="0" indent="0">
              <a:buNone/>
            </a:pPr>
            <a:r>
              <a:rPr lang="en-US" sz="14400" dirty="0"/>
              <a:t>1. Architecture</a:t>
            </a:r>
          </a:p>
          <a:p>
            <a:pPr marL="0" indent="0">
              <a:buNone/>
            </a:pPr>
            <a:r>
              <a:rPr lang="en-US" sz="14400" dirty="0"/>
              <a:t> Image—</a:t>
            </a:r>
            <a:r>
              <a:rPr lang="en-US" sz="14400" dirty="0" err="1"/>
              <a:t>FastAPI</a:t>
            </a:r>
            <a:r>
              <a:rPr lang="en-US" sz="14400" dirty="0"/>
              <a:t>—</a:t>
            </a:r>
            <a:r>
              <a:rPr lang="en-US" sz="14400" dirty="0" err="1"/>
              <a:t>PyTorch</a:t>
            </a:r>
            <a:r>
              <a:rPr lang="en-US" sz="14400" dirty="0"/>
              <a:t> MNIST model –--Prediction </a:t>
            </a:r>
          </a:p>
          <a:p>
            <a:pPr marL="0" indent="0">
              <a:buNone/>
            </a:pPr>
            <a:r>
              <a:rPr lang="en-US" sz="14400" dirty="0"/>
              <a:t>2. Technologies</a:t>
            </a:r>
          </a:p>
          <a:p>
            <a:pPr lvl="1"/>
            <a:r>
              <a:rPr lang="en-US" sz="14400" dirty="0"/>
              <a:t>Programming –Python</a:t>
            </a:r>
          </a:p>
          <a:p>
            <a:pPr lvl="1"/>
            <a:r>
              <a:rPr lang="en-US" sz="14400" dirty="0"/>
              <a:t>ML framework –</a:t>
            </a:r>
            <a:r>
              <a:rPr lang="en-US" sz="14400" dirty="0" err="1"/>
              <a:t>PyTorch</a:t>
            </a:r>
            <a:endParaRPr lang="en-US" sz="14400" dirty="0"/>
          </a:p>
          <a:p>
            <a:pPr lvl="1"/>
            <a:r>
              <a:rPr lang="en-US" sz="14400" dirty="0"/>
              <a:t>Dataset –MNIST</a:t>
            </a:r>
          </a:p>
          <a:p>
            <a:pPr lvl="1"/>
            <a:r>
              <a:rPr lang="en-US" sz="14400" dirty="0"/>
              <a:t>API –</a:t>
            </a:r>
            <a:r>
              <a:rPr lang="en-US" sz="14400" dirty="0" err="1"/>
              <a:t>FastAPI</a:t>
            </a:r>
            <a:endParaRPr lang="en-US" sz="14400" dirty="0"/>
          </a:p>
          <a:p>
            <a:pPr lvl="1"/>
            <a:r>
              <a:rPr lang="en-US" sz="14400" dirty="0"/>
              <a:t>Container –Docker</a:t>
            </a:r>
          </a:p>
          <a:p>
            <a:pPr lvl="1"/>
            <a:r>
              <a:rPr lang="en-US" sz="14400" dirty="0"/>
              <a:t>Development—VS Code</a:t>
            </a:r>
          </a:p>
          <a:p>
            <a:pPr lvl="1"/>
            <a:r>
              <a:rPr lang="en-US" sz="14400" dirty="0"/>
              <a:t>Repository –GitHub</a:t>
            </a:r>
          </a:p>
          <a:p>
            <a:pPr marL="0" indent="0">
              <a:buNone/>
            </a:pPr>
            <a:endParaRPr lang="en-US" dirty="0"/>
          </a:p>
        </p:txBody>
      </p:sp>
    </p:spTree>
    <p:extLst>
      <p:ext uri="{BB962C8B-B14F-4D97-AF65-F5344CB8AC3E}">
        <p14:creationId xmlns:p14="http://schemas.microsoft.com/office/powerpoint/2010/main" val="1386827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CEDC8-3E8B-BFF1-33D9-7C349EC68296}"/>
              </a:ext>
            </a:extLst>
          </p:cNvPr>
          <p:cNvSpPr>
            <a:spLocks noGrp="1"/>
          </p:cNvSpPr>
          <p:nvPr>
            <p:ph type="title"/>
          </p:nvPr>
        </p:nvSpPr>
        <p:spPr/>
        <p:txBody>
          <a:bodyPr>
            <a:normAutofit/>
          </a:bodyPr>
          <a:lstStyle/>
          <a:p>
            <a:r>
              <a:rPr lang="en-US" dirty="0"/>
              <a:t>D. Red Team Scope</a:t>
            </a:r>
          </a:p>
        </p:txBody>
      </p:sp>
      <p:sp>
        <p:nvSpPr>
          <p:cNvPr id="3" name="Content Placeholder 2">
            <a:extLst>
              <a:ext uri="{FF2B5EF4-FFF2-40B4-BE49-F238E27FC236}">
                <a16:creationId xmlns:a16="http://schemas.microsoft.com/office/drawing/2014/main" id="{A9002F95-BF23-EC15-F6B5-B1E9B2A1A768}"/>
              </a:ext>
            </a:extLst>
          </p:cNvPr>
          <p:cNvSpPr>
            <a:spLocks noGrp="1"/>
          </p:cNvSpPr>
          <p:nvPr>
            <p:ph idx="1"/>
          </p:nvPr>
        </p:nvSpPr>
        <p:spPr/>
        <p:txBody>
          <a:bodyPr/>
          <a:lstStyle/>
          <a:p>
            <a:r>
              <a:rPr lang="en-US" dirty="0"/>
              <a:t>Local system</a:t>
            </a:r>
          </a:p>
        </p:txBody>
      </p:sp>
    </p:spTree>
    <p:extLst>
      <p:ext uri="{BB962C8B-B14F-4D97-AF65-F5344CB8AC3E}">
        <p14:creationId xmlns:p14="http://schemas.microsoft.com/office/powerpoint/2010/main" val="2760323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C6A49-C240-5C08-2548-F00E806197FB}"/>
              </a:ext>
            </a:extLst>
          </p:cNvPr>
          <p:cNvSpPr>
            <a:spLocks noGrp="1"/>
          </p:cNvSpPr>
          <p:nvPr>
            <p:ph type="title"/>
          </p:nvPr>
        </p:nvSpPr>
        <p:spPr/>
        <p:txBody>
          <a:bodyPr/>
          <a:lstStyle/>
          <a:p>
            <a:r>
              <a:rPr lang="en-US" dirty="0"/>
              <a:t>E. Methodology</a:t>
            </a:r>
          </a:p>
        </p:txBody>
      </p:sp>
      <p:sp>
        <p:nvSpPr>
          <p:cNvPr id="3" name="Content Placeholder 2">
            <a:extLst>
              <a:ext uri="{FF2B5EF4-FFF2-40B4-BE49-F238E27FC236}">
                <a16:creationId xmlns:a16="http://schemas.microsoft.com/office/drawing/2014/main" id="{2CA71863-E648-A3C2-F1A6-AC556604ED0B}"/>
              </a:ext>
            </a:extLst>
          </p:cNvPr>
          <p:cNvSpPr>
            <a:spLocks noGrp="1"/>
          </p:cNvSpPr>
          <p:nvPr>
            <p:ph idx="1"/>
          </p:nvPr>
        </p:nvSpPr>
        <p:spPr>
          <a:xfrm>
            <a:off x="838199" y="1825625"/>
            <a:ext cx="10919791" cy="4351338"/>
          </a:xfrm>
        </p:spPr>
        <p:txBody>
          <a:bodyPr/>
          <a:lstStyle/>
          <a:p>
            <a:pPr>
              <a:lnSpc>
                <a:spcPct val="200000"/>
              </a:lnSpc>
            </a:pPr>
            <a:r>
              <a:rPr lang="en-US" dirty="0"/>
              <a:t>Gather Information           Baseline Testing          Attack Evidence collection        Mitigation       Retesting</a:t>
            </a:r>
          </a:p>
          <a:p>
            <a:pPr marL="0" indent="0">
              <a:buNone/>
            </a:pPr>
            <a:endParaRPr lang="en-US" dirty="0"/>
          </a:p>
        </p:txBody>
      </p:sp>
      <p:sp>
        <p:nvSpPr>
          <p:cNvPr id="4" name="Arrow: Right 3">
            <a:extLst>
              <a:ext uri="{FF2B5EF4-FFF2-40B4-BE49-F238E27FC236}">
                <a16:creationId xmlns:a16="http://schemas.microsoft.com/office/drawing/2014/main" id="{5CBAA859-3BB5-332F-6F00-1F5DEB31868E}"/>
              </a:ext>
            </a:extLst>
          </p:cNvPr>
          <p:cNvSpPr/>
          <p:nvPr/>
        </p:nvSpPr>
        <p:spPr>
          <a:xfrm>
            <a:off x="9024731" y="2338400"/>
            <a:ext cx="821636"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 name="Arrow: Right 4">
            <a:extLst>
              <a:ext uri="{FF2B5EF4-FFF2-40B4-BE49-F238E27FC236}">
                <a16:creationId xmlns:a16="http://schemas.microsoft.com/office/drawing/2014/main" id="{F4973FE5-6E47-405B-EBEA-13762CBFC24B}"/>
              </a:ext>
            </a:extLst>
          </p:cNvPr>
          <p:cNvSpPr/>
          <p:nvPr/>
        </p:nvSpPr>
        <p:spPr>
          <a:xfrm>
            <a:off x="4893365" y="2338400"/>
            <a:ext cx="821635"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 name="Arrow: Right 5">
            <a:extLst>
              <a:ext uri="{FF2B5EF4-FFF2-40B4-BE49-F238E27FC236}">
                <a16:creationId xmlns:a16="http://schemas.microsoft.com/office/drawing/2014/main" id="{F8EFBDFC-E656-6C97-7A76-52E3A483AB3A}"/>
              </a:ext>
            </a:extLst>
          </p:cNvPr>
          <p:cNvSpPr/>
          <p:nvPr/>
        </p:nvSpPr>
        <p:spPr>
          <a:xfrm>
            <a:off x="4893365" y="3335806"/>
            <a:ext cx="55659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7" name="Arrow: Right 6">
            <a:extLst>
              <a:ext uri="{FF2B5EF4-FFF2-40B4-BE49-F238E27FC236}">
                <a16:creationId xmlns:a16="http://schemas.microsoft.com/office/drawing/2014/main" id="{7C147D7B-0AC7-54F9-463D-55F22AED348D}"/>
              </a:ext>
            </a:extLst>
          </p:cNvPr>
          <p:cNvSpPr/>
          <p:nvPr/>
        </p:nvSpPr>
        <p:spPr>
          <a:xfrm>
            <a:off x="7560365" y="3379339"/>
            <a:ext cx="55659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 name="Arrow: Right 7">
            <a:extLst>
              <a:ext uri="{FF2B5EF4-FFF2-40B4-BE49-F238E27FC236}">
                <a16:creationId xmlns:a16="http://schemas.microsoft.com/office/drawing/2014/main" id="{2C7A616E-2E29-283A-2082-C0F9CD25A4DE}"/>
              </a:ext>
            </a:extLst>
          </p:cNvPr>
          <p:cNvSpPr/>
          <p:nvPr/>
        </p:nvSpPr>
        <p:spPr>
          <a:xfrm>
            <a:off x="11148389" y="2338400"/>
            <a:ext cx="55659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041847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88717-6B8F-CBA1-8DD6-42ADDE078D18}"/>
              </a:ext>
            </a:extLst>
          </p:cNvPr>
          <p:cNvSpPr>
            <a:spLocks noGrp="1"/>
          </p:cNvSpPr>
          <p:nvPr>
            <p:ph type="title"/>
          </p:nvPr>
        </p:nvSpPr>
        <p:spPr/>
        <p:txBody>
          <a:bodyPr>
            <a:normAutofit/>
          </a:bodyPr>
          <a:lstStyle/>
          <a:p>
            <a:r>
              <a:rPr lang="en-US" dirty="0"/>
              <a:t>E. </a:t>
            </a:r>
            <a:r>
              <a:rPr lang="en-US" dirty="0" err="1"/>
              <a:t>Methodo</a:t>
            </a:r>
            <a:r>
              <a:rPr lang="en-US" dirty="0"/>
              <a:t>….</a:t>
            </a:r>
          </a:p>
        </p:txBody>
      </p:sp>
      <p:sp>
        <p:nvSpPr>
          <p:cNvPr id="3" name="Content Placeholder 2">
            <a:extLst>
              <a:ext uri="{FF2B5EF4-FFF2-40B4-BE49-F238E27FC236}">
                <a16:creationId xmlns:a16="http://schemas.microsoft.com/office/drawing/2014/main" id="{9B09E505-B819-9627-C7C1-838650F43B55}"/>
              </a:ext>
            </a:extLst>
          </p:cNvPr>
          <p:cNvSpPr>
            <a:spLocks noGrp="1"/>
          </p:cNvSpPr>
          <p:nvPr>
            <p:ph idx="1"/>
          </p:nvPr>
        </p:nvSpPr>
        <p:spPr>
          <a:xfrm>
            <a:off x="838200" y="1825625"/>
            <a:ext cx="10515600" cy="4773958"/>
          </a:xfrm>
        </p:spPr>
        <p:txBody>
          <a:bodyPr>
            <a:normAutofit fontScale="92500" lnSpcReduction="20000"/>
          </a:bodyPr>
          <a:lstStyle/>
          <a:p>
            <a:pPr marL="0" indent="0">
              <a:buNone/>
            </a:pPr>
            <a:r>
              <a:rPr lang="en-US" b="1" dirty="0"/>
              <a:t>E.1. Gathered information</a:t>
            </a:r>
          </a:p>
          <a:p>
            <a:pPr algn="just"/>
            <a:r>
              <a:rPr lang="en-US" dirty="0"/>
              <a:t>MNIST dataset is a dataset of 0_9 numbers images with only grey/white number black background, size of 28x28 and around 60,000_70,000 images in it which is simple dataset.</a:t>
            </a:r>
          </a:p>
          <a:p>
            <a:r>
              <a:rPr lang="en-US" b="1"/>
              <a:t>Adversarial Attacks</a:t>
            </a:r>
            <a:endParaRPr lang="en-US" b="1" dirty="0"/>
          </a:p>
          <a:p>
            <a:pPr lvl="1" algn="just"/>
            <a:r>
              <a:rPr lang="en-US" dirty="0"/>
              <a:t>FGSM (Fast Gradient Sign Method) makes one-step attack. It calculates which direction to slightly change the pixels so that the model’s prediction becomes wrong.</a:t>
            </a:r>
          </a:p>
          <a:p>
            <a:pPr lvl="1" algn="just"/>
            <a:r>
              <a:rPr lang="en-US" dirty="0"/>
              <a:t>PGD (Projected Gradient Descent) makes many smaller steps attack.</a:t>
            </a:r>
          </a:p>
          <a:p>
            <a:endParaRPr lang="en-US" dirty="0"/>
          </a:p>
        </p:txBody>
      </p:sp>
    </p:spTree>
    <p:extLst>
      <p:ext uri="{BB962C8B-B14F-4D97-AF65-F5344CB8AC3E}">
        <p14:creationId xmlns:p14="http://schemas.microsoft.com/office/powerpoint/2010/main" val="4198049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00B7C-B00D-09E2-650B-DF47CC72441B}"/>
              </a:ext>
            </a:extLst>
          </p:cNvPr>
          <p:cNvSpPr>
            <a:spLocks noGrp="1"/>
          </p:cNvSpPr>
          <p:nvPr>
            <p:ph type="title"/>
          </p:nvPr>
        </p:nvSpPr>
        <p:spPr/>
        <p:txBody>
          <a:bodyPr>
            <a:normAutofit/>
          </a:bodyPr>
          <a:lstStyle/>
          <a:p>
            <a:r>
              <a:rPr lang="en-US" dirty="0"/>
              <a:t>i. Attack_1</a:t>
            </a:r>
          </a:p>
        </p:txBody>
      </p:sp>
      <p:sp>
        <p:nvSpPr>
          <p:cNvPr id="3" name="Content Placeholder 2">
            <a:extLst>
              <a:ext uri="{FF2B5EF4-FFF2-40B4-BE49-F238E27FC236}">
                <a16:creationId xmlns:a16="http://schemas.microsoft.com/office/drawing/2014/main" id="{CEC19A72-0C1C-3522-84BA-8F9AB9DA6736}"/>
              </a:ext>
            </a:extLst>
          </p:cNvPr>
          <p:cNvSpPr>
            <a:spLocks noGrp="1"/>
          </p:cNvSpPr>
          <p:nvPr>
            <p:ph idx="1"/>
          </p:nvPr>
        </p:nvSpPr>
        <p:spPr/>
        <p:txBody>
          <a:bodyPr>
            <a:normAutofit lnSpcReduction="10000"/>
          </a:bodyPr>
          <a:lstStyle/>
          <a:p>
            <a:pPr marL="0" indent="0">
              <a:buNone/>
            </a:pPr>
            <a:r>
              <a:rPr lang="en-US" b="1" dirty="0"/>
              <a:t>i.1. Objective</a:t>
            </a:r>
          </a:p>
          <a:p>
            <a:r>
              <a:rPr lang="en-US" dirty="0"/>
              <a:t>To determine while the small modification on the input image may produce incorrect prediction</a:t>
            </a:r>
          </a:p>
          <a:p>
            <a:pPr marL="0" lvl="0" indent="0">
              <a:buNone/>
            </a:pPr>
            <a:r>
              <a:rPr lang="en-US" b="1" dirty="0"/>
              <a:t>i.2. method</a:t>
            </a:r>
          </a:p>
          <a:p>
            <a:r>
              <a:rPr lang="en-US" dirty="0"/>
              <a:t>FGSM (Fast Gradient Sign Method):</a:t>
            </a:r>
          </a:p>
          <a:p>
            <a:r>
              <a:rPr lang="en-US" dirty="0"/>
              <a:t>It makes one-step attack. It calculates which direction to slightly change the pixels so that the model’s prediction becomes wrong.</a:t>
            </a:r>
          </a:p>
          <a:p>
            <a:pPr marL="0" indent="0">
              <a:buNone/>
            </a:pPr>
            <a:endParaRPr lang="en-US" dirty="0"/>
          </a:p>
        </p:txBody>
      </p:sp>
    </p:spTree>
    <p:extLst>
      <p:ext uri="{BB962C8B-B14F-4D97-AF65-F5344CB8AC3E}">
        <p14:creationId xmlns:p14="http://schemas.microsoft.com/office/powerpoint/2010/main" val="712940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1DA1E-FC5B-6343-AA03-16EF34F7DA87}"/>
              </a:ext>
            </a:extLst>
          </p:cNvPr>
          <p:cNvSpPr>
            <a:spLocks noGrp="1"/>
          </p:cNvSpPr>
          <p:nvPr>
            <p:ph type="title"/>
          </p:nvPr>
        </p:nvSpPr>
        <p:spPr/>
        <p:txBody>
          <a:bodyPr/>
          <a:lstStyle/>
          <a:p>
            <a:r>
              <a:rPr lang="en-US" dirty="0"/>
              <a:t>i. Atta….</a:t>
            </a:r>
          </a:p>
        </p:txBody>
      </p:sp>
      <p:sp>
        <p:nvSpPr>
          <p:cNvPr id="3" name="Content Placeholder 2">
            <a:extLst>
              <a:ext uri="{FF2B5EF4-FFF2-40B4-BE49-F238E27FC236}">
                <a16:creationId xmlns:a16="http://schemas.microsoft.com/office/drawing/2014/main" id="{FD181506-75F5-DE83-FD79-C79447E12717}"/>
              </a:ext>
            </a:extLst>
          </p:cNvPr>
          <p:cNvSpPr>
            <a:spLocks noGrp="1"/>
          </p:cNvSpPr>
          <p:nvPr>
            <p:ph idx="1"/>
          </p:nvPr>
        </p:nvSpPr>
        <p:spPr/>
        <p:txBody>
          <a:bodyPr/>
          <a:lstStyle/>
          <a:p>
            <a:pPr marL="0" lvl="0" indent="0">
              <a:buNone/>
            </a:pPr>
            <a:r>
              <a:rPr lang="en-US" b="1" dirty="0"/>
              <a:t>i.3. Result</a:t>
            </a:r>
          </a:p>
          <a:p>
            <a:pPr marL="0" indent="0">
              <a:buNone/>
            </a:pPr>
            <a:endParaRPr lang="en-US" dirty="0"/>
          </a:p>
        </p:txBody>
      </p:sp>
      <p:pic>
        <p:nvPicPr>
          <p:cNvPr id="9" name="Picture 8">
            <a:extLst>
              <a:ext uri="{FF2B5EF4-FFF2-40B4-BE49-F238E27FC236}">
                <a16:creationId xmlns:a16="http://schemas.microsoft.com/office/drawing/2014/main" id="{5A2E6059-6AB3-EF4A-E287-AAEBB3CDE9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528762"/>
            <a:ext cx="1819529" cy="1800476"/>
          </a:xfrm>
          <a:prstGeom prst="rect">
            <a:avLst/>
          </a:prstGeom>
        </p:spPr>
      </p:pic>
      <p:pic>
        <p:nvPicPr>
          <p:cNvPr id="11" name="Picture 10">
            <a:extLst>
              <a:ext uri="{FF2B5EF4-FFF2-40B4-BE49-F238E27FC236}">
                <a16:creationId xmlns:a16="http://schemas.microsoft.com/office/drawing/2014/main" id="{CB6E584B-FE4B-C760-807C-6DAE58DAD6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1697" y="2709762"/>
            <a:ext cx="1552792" cy="1619476"/>
          </a:xfrm>
          <a:prstGeom prst="rect">
            <a:avLst/>
          </a:prstGeom>
        </p:spPr>
      </p:pic>
      <p:pic>
        <p:nvPicPr>
          <p:cNvPr id="13" name="Picture 12">
            <a:extLst>
              <a:ext uri="{FF2B5EF4-FFF2-40B4-BE49-F238E27FC236}">
                <a16:creationId xmlns:a16="http://schemas.microsoft.com/office/drawing/2014/main" id="{85652FD7-88FC-318E-B00E-CFCCDE65A2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8459" y="2709762"/>
            <a:ext cx="6702839" cy="1619476"/>
          </a:xfrm>
          <a:prstGeom prst="rect">
            <a:avLst/>
          </a:prstGeom>
        </p:spPr>
      </p:pic>
      <p:sp>
        <p:nvSpPr>
          <p:cNvPr id="14" name="Rectangle 13">
            <a:extLst>
              <a:ext uri="{FF2B5EF4-FFF2-40B4-BE49-F238E27FC236}">
                <a16:creationId xmlns:a16="http://schemas.microsoft.com/office/drawing/2014/main" id="{8C6F3D87-BBDA-0DFC-4A12-D7EC4B852706}"/>
              </a:ext>
            </a:extLst>
          </p:cNvPr>
          <p:cNvSpPr/>
          <p:nvPr/>
        </p:nvSpPr>
        <p:spPr>
          <a:xfrm>
            <a:off x="838199" y="4329238"/>
            <a:ext cx="1819529" cy="2962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Original Image</a:t>
            </a:r>
          </a:p>
        </p:txBody>
      </p:sp>
      <p:sp>
        <p:nvSpPr>
          <p:cNvPr id="16" name="Rectangle 15">
            <a:extLst>
              <a:ext uri="{FF2B5EF4-FFF2-40B4-BE49-F238E27FC236}">
                <a16:creationId xmlns:a16="http://schemas.microsoft.com/office/drawing/2014/main" id="{F05BC3A6-007D-CC82-DA53-2C9818133A73}"/>
              </a:ext>
            </a:extLst>
          </p:cNvPr>
          <p:cNvSpPr/>
          <p:nvPr/>
        </p:nvSpPr>
        <p:spPr>
          <a:xfrm>
            <a:off x="3210386" y="4329238"/>
            <a:ext cx="1941887" cy="2962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Adversarial Image</a:t>
            </a:r>
          </a:p>
        </p:txBody>
      </p:sp>
      <p:sp>
        <p:nvSpPr>
          <p:cNvPr id="18" name="Rectangle 17">
            <a:extLst>
              <a:ext uri="{FF2B5EF4-FFF2-40B4-BE49-F238E27FC236}">
                <a16:creationId xmlns:a16="http://schemas.microsoft.com/office/drawing/2014/main" id="{819F6431-997B-6B71-BB18-7E0538B7097A}"/>
              </a:ext>
            </a:extLst>
          </p:cNvPr>
          <p:cNvSpPr/>
          <p:nvPr/>
        </p:nvSpPr>
        <p:spPr>
          <a:xfrm>
            <a:off x="5358457" y="4316026"/>
            <a:ext cx="6702839" cy="2962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AI prediction</a:t>
            </a:r>
          </a:p>
        </p:txBody>
      </p:sp>
    </p:spTree>
    <p:extLst>
      <p:ext uri="{BB962C8B-B14F-4D97-AF65-F5344CB8AC3E}">
        <p14:creationId xmlns:p14="http://schemas.microsoft.com/office/powerpoint/2010/main" val="3556462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B099F-1A40-747D-C93D-9070BEEE5084}"/>
              </a:ext>
            </a:extLst>
          </p:cNvPr>
          <p:cNvSpPr>
            <a:spLocks noGrp="1"/>
          </p:cNvSpPr>
          <p:nvPr>
            <p:ph type="title"/>
          </p:nvPr>
        </p:nvSpPr>
        <p:spPr/>
        <p:txBody>
          <a:bodyPr/>
          <a:lstStyle/>
          <a:p>
            <a:r>
              <a:rPr lang="en-US" dirty="0"/>
              <a:t>i. Atta….</a:t>
            </a:r>
          </a:p>
        </p:txBody>
      </p:sp>
      <p:sp>
        <p:nvSpPr>
          <p:cNvPr id="3" name="Content Placeholder 2">
            <a:extLst>
              <a:ext uri="{FF2B5EF4-FFF2-40B4-BE49-F238E27FC236}">
                <a16:creationId xmlns:a16="http://schemas.microsoft.com/office/drawing/2014/main" id="{993EA3E3-1C95-0D06-6B02-F2B8CD4A2E93}"/>
              </a:ext>
            </a:extLst>
          </p:cNvPr>
          <p:cNvSpPr>
            <a:spLocks noGrp="1"/>
          </p:cNvSpPr>
          <p:nvPr>
            <p:ph idx="1"/>
          </p:nvPr>
        </p:nvSpPr>
        <p:spPr/>
        <p:txBody>
          <a:bodyPr/>
          <a:lstStyle/>
          <a:p>
            <a:pPr marL="0" lvl="0" indent="0">
              <a:buNone/>
            </a:pPr>
            <a:r>
              <a:rPr lang="en-US" b="1" dirty="0"/>
              <a:t>i.4. Mitigation </a:t>
            </a:r>
          </a:p>
          <a:p>
            <a:r>
              <a:rPr lang="en-US" dirty="0"/>
              <a:t>Apply adversarial training by including adversarially modified images during model training.</a:t>
            </a:r>
          </a:p>
          <a:p>
            <a:pPr marL="0" indent="0">
              <a:buNone/>
            </a:pPr>
            <a:endParaRPr lang="en-US" dirty="0"/>
          </a:p>
        </p:txBody>
      </p:sp>
    </p:spTree>
    <p:extLst>
      <p:ext uri="{BB962C8B-B14F-4D97-AF65-F5344CB8AC3E}">
        <p14:creationId xmlns:p14="http://schemas.microsoft.com/office/powerpoint/2010/main" val="38899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8767D-F191-6FBA-26A0-BD35BDE5B497}"/>
              </a:ext>
            </a:extLst>
          </p:cNvPr>
          <p:cNvSpPr>
            <a:spLocks noGrp="1"/>
          </p:cNvSpPr>
          <p:nvPr>
            <p:ph type="title"/>
          </p:nvPr>
        </p:nvSpPr>
        <p:spPr/>
        <p:txBody>
          <a:bodyPr/>
          <a:lstStyle/>
          <a:p>
            <a:r>
              <a:rPr lang="en-US" dirty="0"/>
              <a:t>i. Atta….</a:t>
            </a:r>
          </a:p>
        </p:txBody>
      </p:sp>
      <p:sp>
        <p:nvSpPr>
          <p:cNvPr id="3" name="Content Placeholder 2">
            <a:extLst>
              <a:ext uri="{FF2B5EF4-FFF2-40B4-BE49-F238E27FC236}">
                <a16:creationId xmlns:a16="http://schemas.microsoft.com/office/drawing/2014/main" id="{1FE5D2E6-0BAC-E575-49A9-095741B3B0F1}"/>
              </a:ext>
            </a:extLst>
          </p:cNvPr>
          <p:cNvSpPr>
            <a:spLocks noGrp="1"/>
          </p:cNvSpPr>
          <p:nvPr>
            <p:ph idx="1"/>
          </p:nvPr>
        </p:nvSpPr>
        <p:spPr/>
        <p:txBody>
          <a:bodyPr/>
          <a:lstStyle/>
          <a:p>
            <a:pPr marL="0" lvl="0" indent="0">
              <a:buNone/>
            </a:pPr>
            <a:r>
              <a:rPr lang="en-US" b="1" dirty="0"/>
              <a:t>i.5. Retest</a:t>
            </a:r>
          </a:p>
          <a:p>
            <a:pPr marL="0" indent="0">
              <a:buNone/>
            </a:pPr>
            <a:endParaRPr lang="en-US" dirty="0"/>
          </a:p>
        </p:txBody>
      </p:sp>
      <p:sp>
        <p:nvSpPr>
          <p:cNvPr id="10" name="Rectangle 9">
            <a:extLst>
              <a:ext uri="{FF2B5EF4-FFF2-40B4-BE49-F238E27FC236}">
                <a16:creationId xmlns:a16="http://schemas.microsoft.com/office/drawing/2014/main" id="{A71CB8F7-E18E-9E9D-3520-AC20505B9B79}"/>
              </a:ext>
            </a:extLst>
          </p:cNvPr>
          <p:cNvSpPr/>
          <p:nvPr/>
        </p:nvSpPr>
        <p:spPr>
          <a:xfrm>
            <a:off x="693585" y="5152547"/>
            <a:ext cx="1246753" cy="5829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Original Image</a:t>
            </a:r>
          </a:p>
        </p:txBody>
      </p:sp>
      <p:sp>
        <p:nvSpPr>
          <p:cNvPr id="12" name="Rectangle 11">
            <a:extLst>
              <a:ext uri="{FF2B5EF4-FFF2-40B4-BE49-F238E27FC236}">
                <a16:creationId xmlns:a16="http://schemas.microsoft.com/office/drawing/2014/main" id="{A35EFC18-B66C-DB5C-FEF0-025E9654E2F1}"/>
              </a:ext>
            </a:extLst>
          </p:cNvPr>
          <p:cNvSpPr/>
          <p:nvPr/>
        </p:nvSpPr>
        <p:spPr>
          <a:xfrm>
            <a:off x="2318785" y="5152547"/>
            <a:ext cx="1323628" cy="5829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Adversarial Image</a:t>
            </a:r>
          </a:p>
        </p:txBody>
      </p:sp>
      <p:sp>
        <p:nvSpPr>
          <p:cNvPr id="14" name="Rectangle 13">
            <a:extLst>
              <a:ext uri="{FF2B5EF4-FFF2-40B4-BE49-F238E27FC236}">
                <a16:creationId xmlns:a16="http://schemas.microsoft.com/office/drawing/2014/main" id="{056EC6EC-DD78-DB0F-3C47-E854B5D9A206}"/>
              </a:ext>
            </a:extLst>
          </p:cNvPr>
          <p:cNvSpPr/>
          <p:nvPr/>
        </p:nvSpPr>
        <p:spPr>
          <a:xfrm>
            <a:off x="4284283" y="5152547"/>
            <a:ext cx="7418473" cy="5829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Predicted result</a:t>
            </a:r>
          </a:p>
        </p:txBody>
      </p:sp>
      <p:pic>
        <p:nvPicPr>
          <p:cNvPr id="16" name="Picture 15">
            <a:extLst>
              <a:ext uri="{FF2B5EF4-FFF2-40B4-BE49-F238E27FC236}">
                <a16:creationId xmlns:a16="http://schemas.microsoft.com/office/drawing/2014/main" id="{79BC3EEA-2BEA-7147-766E-68524E296C7F}"/>
              </a:ext>
            </a:extLst>
          </p:cNvPr>
          <p:cNvPicPr>
            <a:picLocks noChangeAspect="1"/>
          </p:cNvPicPr>
          <p:nvPr/>
        </p:nvPicPr>
        <p:blipFill>
          <a:blip r:embed="rId2"/>
          <a:stretch>
            <a:fillRect/>
          </a:stretch>
        </p:blipFill>
        <p:spPr>
          <a:xfrm>
            <a:off x="693586" y="3632816"/>
            <a:ext cx="1246752" cy="1560168"/>
          </a:xfrm>
          <a:prstGeom prst="rect">
            <a:avLst/>
          </a:prstGeom>
        </p:spPr>
      </p:pic>
      <p:pic>
        <p:nvPicPr>
          <p:cNvPr id="18" name="Picture 17">
            <a:extLst>
              <a:ext uri="{FF2B5EF4-FFF2-40B4-BE49-F238E27FC236}">
                <a16:creationId xmlns:a16="http://schemas.microsoft.com/office/drawing/2014/main" id="{14E44294-B426-426F-393C-B72039169C7B}"/>
              </a:ext>
            </a:extLst>
          </p:cNvPr>
          <p:cNvPicPr>
            <a:picLocks noChangeAspect="1"/>
          </p:cNvPicPr>
          <p:nvPr/>
        </p:nvPicPr>
        <p:blipFill>
          <a:blip r:embed="rId3"/>
          <a:stretch>
            <a:fillRect/>
          </a:stretch>
        </p:blipFill>
        <p:spPr>
          <a:xfrm>
            <a:off x="2323730" y="3632817"/>
            <a:ext cx="1313739" cy="1565524"/>
          </a:xfrm>
          <a:prstGeom prst="rect">
            <a:avLst/>
          </a:prstGeom>
        </p:spPr>
      </p:pic>
      <p:pic>
        <p:nvPicPr>
          <p:cNvPr id="20" name="Picture 19">
            <a:extLst>
              <a:ext uri="{FF2B5EF4-FFF2-40B4-BE49-F238E27FC236}">
                <a16:creationId xmlns:a16="http://schemas.microsoft.com/office/drawing/2014/main" id="{8122D216-207F-2AAF-65A8-0B2780B72BE9}"/>
              </a:ext>
            </a:extLst>
          </p:cNvPr>
          <p:cNvPicPr>
            <a:picLocks noChangeAspect="1"/>
          </p:cNvPicPr>
          <p:nvPr/>
        </p:nvPicPr>
        <p:blipFill>
          <a:blip r:embed="rId4"/>
          <a:stretch>
            <a:fillRect/>
          </a:stretch>
        </p:blipFill>
        <p:spPr>
          <a:xfrm>
            <a:off x="4284283" y="2420261"/>
            <a:ext cx="7418473" cy="2732286"/>
          </a:xfrm>
          <a:prstGeom prst="rect">
            <a:avLst/>
          </a:prstGeom>
        </p:spPr>
      </p:pic>
    </p:spTree>
    <p:extLst>
      <p:ext uri="{BB962C8B-B14F-4D97-AF65-F5344CB8AC3E}">
        <p14:creationId xmlns:p14="http://schemas.microsoft.com/office/powerpoint/2010/main" val="831120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F6E96-68AF-3AA5-262F-59BAD47B5C36}"/>
              </a:ext>
            </a:extLst>
          </p:cNvPr>
          <p:cNvSpPr>
            <a:spLocks noGrp="1"/>
          </p:cNvSpPr>
          <p:nvPr>
            <p:ph type="title"/>
          </p:nvPr>
        </p:nvSpPr>
        <p:spPr/>
        <p:txBody>
          <a:bodyPr/>
          <a:lstStyle/>
          <a:p>
            <a:r>
              <a:rPr lang="en-US" dirty="0"/>
              <a:t>ii. Attack_2</a:t>
            </a:r>
          </a:p>
        </p:txBody>
      </p:sp>
      <p:sp>
        <p:nvSpPr>
          <p:cNvPr id="3" name="Content Placeholder 2">
            <a:extLst>
              <a:ext uri="{FF2B5EF4-FFF2-40B4-BE49-F238E27FC236}">
                <a16:creationId xmlns:a16="http://schemas.microsoft.com/office/drawing/2014/main" id="{864E2B93-4E71-5AAD-E479-2034EA8FF6E2}"/>
              </a:ext>
            </a:extLst>
          </p:cNvPr>
          <p:cNvSpPr>
            <a:spLocks noGrp="1"/>
          </p:cNvSpPr>
          <p:nvPr>
            <p:ph idx="1"/>
          </p:nvPr>
        </p:nvSpPr>
        <p:spPr/>
        <p:txBody>
          <a:bodyPr>
            <a:normAutofit/>
          </a:bodyPr>
          <a:lstStyle/>
          <a:p>
            <a:pPr marL="0" indent="0">
              <a:buNone/>
            </a:pPr>
            <a:r>
              <a:rPr lang="en-US" b="1" dirty="0"/>
              <a:t>ii.1. Objective</a:t>
            </a:r>
          </a:p>
          <a:p>
            <a:r>
              <a:rPr lang="en-US" dirty="0"/>
              <a:t>To determine while the iterative modification on the input image may produce incorrect prediction</a:t>
            </a:r>
          </a:p>
          <a:p>
            <a:pPr marL="0" lvl="0" indent="0">
              <a:buNone/>
            </a:pPr>
            <a:r>
              <a:rPr lang="en-US" b="1" dirty="0"/>
              <a:t>ii.2. method</a:t>
            </a:r>
          </a:p>
          <a:p>
            <a:r>
              <a:rPr lang="en-US" dirty="0"/>
              <a:t>PGD(Project Gradient Descent)</a:t>
            </a:r>
          </a:p>
          <a:p>
            <a:r>
              <a:rPr lang="en-US" dirty="0"/>
              <a:t>It makes many smaller steps to attack. It is Iterative, multi-step attack.</a:t>
            </a:r>
          </a:p>
          <a:p>
            <a:pPr marL="0" indent="0">
              <a:buNone/>
            </a:pPr>
            <a:endParaRPr lang="en-US" dirty="0"/>
          </a:p>
        </p:txBody>
      </p:sp>
    </p:spTree>
    <p:extLst>
      <p:ext uri="{BB962C8B-B14F-4D97-AF65-F5344CB8AC3E}">
        <p14:creationId xmlns:p14="http://schemas.microsoft.com/office/powerpoint/2010/main" val="1835414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6A483-C70F-5EC8-94AE-AA6412074487}"/>
              </a:ext>
            </a:extLst>
          </p:cNvPr>
          <p:cNvSpPr>
            <a:spLocks noGrp="1"/>
          </p:cNvSpPr>
          <p:nvPr>
            <p:ph type="title"/>
          </p:nvPr>
        </p:nvSpPr>
        <p:spPr/>
        <p:txBody>
          <a:bodyPr/>
          <a:lstStyle/>
          <a:p>
            <a:r>
              <a:rPr lang="en-US" dirty="0"/>
              <a:t>ii. Attack_2</a:t>
            </a:r>
          </a:p>
        </p:txBody>
      </p:sp>
      <p:sp>
        <p:nvSpPr>
          <p:cNvPr id="3" name="Content Placeholder 2">
            <a:extLst>
              <a:ext uri="{FF2B5EF4-FFF2-40B4-BE49-F238E27FC236}">
                <a16:creationId xmlns:a16="http://schemas.microsoft.com/office/drawing/2014/main" id="{445E0935-5F00-7F3D-653F-73F6525F9CD1}"/>
              </a:ext>
            </a:extLst>
          </p:cNvPr>
          <p:cNvSpPr>
            <a:spLocks noGrp="1"/>
          </p:cNvSpPr>
          <p:nvPr>
            <p:ph idx="1"/>
          </p:nvPr>
        </p:nvSpPr>
        <p:spPr/>
        <p:txBody>
          <a:bodyPr/>
          <a:lstStyle/>
          <a:p>
            <a:pPr marL="0" indent="0">
              <a:buNone/>
            </a:pPr>
            <a:r>
              <a:rPr lang="en-US" b="1" dirty="0"/>
              <a:t>ii.3. Result</a:t>
            </a:r>
          </a:p>
          <a:p>
            <a:pPr marL="0" indent="0">
              <a:buNone/>
            </a:pPr>
            <a:endParaRPr lang="en-US" dirty="0"/>
          </a:p>
        </p:txBody>
      </p:sp>
      <p:pic>
        <p:nvPicPr>
          <p:cNvPr id="5" name="Picture 4">
            <a:extLst>
              <a:ext uri="{FF2B5EF4-FFF2-40B4-BE49-F238E27FC236}">
                <a16:creationId xmlns:a16="http://schemas.microsoft.com/office/drawing/2014/main" id="{32D8B7DE-4402-3F2A-8FEE-5B14C2C5B83E}"/>
              </a:ext>
            </a:extLst>
          </p:cNvPr>
          <p:cNvPicPr>
            <a:picLocks noChangeAspect="1"/>
          </p:cNvPicPr>
          <p:nvPr/>
        </p:nvPicPr>
        <p:blipFill>
          <a:blip r:embed="rId2"/>
          <a:stretch>
            <a:fillRect/>
          </a:stretch>
        </p:blipFill>
        <p:spPr>
          <a:xfrm>
            <a:off x="1145352" y="3300778"/>
            <a:ext cx="2059965" cy="1637757"/>
          </a:xfrm>
          <a:prstGeom prst="rect">
            <a:avLst/>
          </a:prstGeom>
        </p:spPr>
      </p:pic>
      <p:pic>
        <p:nvPicPr>
          <p:cNvPr id="7" name="Picture 6">
            <a:extLst>
              <a:ext uri="{FF2B5EF4-FFF2-40B4-BE49-F238E27FC236}">
                <a16:creationId xmlns:a16="http://schemas.microsoft.com/office/drawing/2014/main" id="{EDA2AF4D-2859-8C32-EE5B-70A00F00E42B}"/>
              </a:ext>
            </a:extLst>
          </p:cNvPr>
          <p:cNvPicPr>
            <a:picLocks noChangeAspect="1"/>
          </p:cNvPicPr>
          <p:nvPr/>
        </p:nvPicPr>
        <p:blipFill>
          <a:blip r:embed="rId3"/>
          <a:stretch>
            <a:fillRect/>
          </a:stretch>
        </p:blipFill>
        <p:spPr>
          <a:xfrm>
            <a:off x="3725231" y="3300779"/>
            <a:ext cx="2054942" cy="1637757"/>
          </a:xfrm>
          <a:prstGeom prst="rect">
            <a:avLst/>
          </a:prstGeom>
        </p:spPr>
      </p:pic>
      <p:pic>
        <p:nvPicPr>
          <p:cNvPr id="9" name="Picture 8">
            <a:extLst>
              <a:ext uri="{FF2B5EF4-FFF2-40B4-BE49-F238E27FC236}">
                <a16:creationId xmlns:a16="http://schemas.microsoft.com/office/drawing/2014/main" id="{B82DF7E0-AF10-BAFE-B021-1EA7FB5E790E}"/>
              </a:ext>
            </a:extLst>
          </p:cNvPr>
          <p:cNvPicPr>
            <a:picLocks noChangeAspect="1"/>
          </p:cNvPicPr>
          <p:nvPr/>
        </p:nvPicPr>
        <p:blipFill>
          <a:blip r:embed="rId4"/>
          <a:stretch>
            <a:fillRect/>
          </a:stretch>
        </p:blipFill>
        <p:spPr>
          <a:xfrm>
            <a:off x="6184490" y="2528375"/>
            <a:ext cx="4096322" cy="2410161"/>
          </a:xfrm>
          <a:prstGeom prst="rect">
            <a:avLst/>
          </a:prstGeom>
        </p:spPr>
      </p:pic>
      <p:sp>
        <p:nvSpPr>
          <p:cNvPr id="10" name="Rectangle 9">
            <a:extLst>
              <a:ext uri="{FF2B5EF4-FFF2-40B4-BE49-F238E27FC236}">
                <a16:creationId xmlns:a16="http://schemas.microsoft.com/office/drawing/2014/main" id="{48529F64-0E81-ACDA-2EC0-AAF02BD72C80}"/>
              </a:ext>
            </a:extLst>
          </p:cNvPr>
          <p:cNvSpPr/>
          <p:nvPr/>
        </p:nvSpPr>
        <p:spPr>
          <a:xfrm>
            <a:off x="1145352" y="4940709"/>
            <a:ext cx="2054942" cy="2900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Original</a:t>
            </a:r>
          </a:p>
        </p:txBody>
      </p:sp>
      <p:sp>
        <p:nvSpPr>
          <p:cNvPr id="12" name="Rectangle 11">
            <a:extLst>
              <a:ext uri="{FF2B5EF4-FFF2-40B4-BE49-F238E27FC236}">
                <a16:creationId xmlns:a16="http://schemas.microsoft.com/office/drawing/2014/main" id="{FB130099-F0AB-E4DB-679A-B42AAA51ED58}"/>
              </a:ext>
            </a:extLst>
          </p:cNvPr>
          <p:cNvSpPr/>
          <p:nvPr/>
        </p:nvSpPr>
        <p:spPr>
          <a:xfrm>
            <a:off x="3730254" y="4928447"/>
            <a:ext cx="2054942" cy="2900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Adversarial</a:t>
            </a:r>
          </a:p>
        </p:txBody>
      </p:sp>
      <p:sp>
        <p:nvSpPr>
          <p:cNvPr id="14" name="Rectangle 13">
            <a:extLst>
              <a:ext uri="{FF2B5EF4-FFF2-40B4-BE49-F238E27FC236}">
                <a16:creationId xmlns:a16="http://schemas.microsoft.com/office/drawing/2014/main" id="{67A873D6-C216-F7F9-017F-5E3B6F231A71}"/>
              </a:ext>
            </a:extLst>
          </p:cNvPr>
          <p:cNvSpPr/>
          <p:nvPr/>
        </p:nvSpPr>
        <p:spPr>
          <a:xfrm>
            <a:off x="6179466" y="4928446"/>
            <a:ext cx="4096321" cy="2900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Prediction</a:t>
            </a:r>
          </a:p>
        </p:txBody>
      </p:sp>
    </p:spTree>
    <p:extLst>
      <p:ext uri="{BB962C8B-B14F-4D97-AF65-F5344CB8AC3E}">
        <p14:creationId xmlns:p14="http://schemas.microsoft.com/office/powerpoint/2010/main" val="1343399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ED253-B0C5-9D41-B179-329F477B399D}"/>
              </a:ext>
            </a:extLst>
          </p:cNvPr>
          <p:cNvSpPr>
            <a:spLocks noGrp="1"/>
          </p:cNvSpPr>
          <p:nvPr>
            <p:ph type="title"/>
          </p:nvPr>
        </p:nvSpPr>
        <p:spPr/>
        <p:txBody>
          <a:bodyPr/>
          <a:lstStyle/>
          <a:p>
            <a:r>
              <a:rPr lang="en-US" dirty="0"/>
              <a:t>ii. Attack_2</a:t>
            </a:r>
          </a:p>
        </p:txBody>
      </p:sp>
      <p:sp>
        <p:nvSpPr>
          <p:cNvPr id="3" name="Content Placeholder 2">
            <a:extLst>
              <a:ext uri="{FF2B5EF4-FFF2-40B4-BE49-F238E27FC236}">
                <a16:creationId xmlns:a16="http://schemas.microsoft.com/office/drawing/2014/main" id="{EB887D1E-3C19-6ADB-722A-01B65277ED36}"/>
              </a:ext>
            </a:extLst>
          </p:cNvPr>
          <p:cNvSpPr>
            <a:spLocks noGrp="1"/>
          </p:cNvSpPr>
          <p:nvPr>
            <p:ph idx="1"/>
          </p:nvPr>
        </p:nvSpPr>
        <p:spPr/>
        <p:txBody>
          <a:bodyPr/>
          <a:lstStyle/>
          <a:p>
            <a:pPr marL="0" lvl="0" indent="0">
              <a:buNone/>
            </a:pPr>
            <a:r>
              <a:rPr lang="en-US" b="1" dirty="0"/>
              <a:t>ii.4. Mitigation </a:t>
            </a:r>
          </a:p>
          <a:p>
            <a:r>
              <a:rPr lang="en-US" dirty="0"/>
              <a:t>Apply adversarial training by including </a:t>
            </a:r>
            <a:r>
              <a:rPr lang="en-US" dirty="0" err="1"/>
              <a:t>adversarially</a:t>
            </a:r>
            <a:r>
              <a:rPr lang="en-US" dirty="0"/>
              <a:t> modified images during model training.</a:t>
            </a:r>
          </a:p>
          <a:p>
            <a:pPr marL="0" indent="0">
              <a:buNone/>
            </a:pPr>
            <a:endParaRPr lang="en-US" dirty="0"/>
          </a:p>
        </p:txBody>
      </p:sp>
    </p:spTree>
    <p:extLst>
      <p:ext uri="{BB962C8B-B14F-4D97-AF65-F5344CB8AC3E}">
        <p14:creationId xmlns:p14="http://schemas.microsoft.com/office/powerpoint/2010/main" val="2897172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BD5D1-39CD-46F7-2BDE-B196E038A143}"/>
              </a:ext>
            </a:extLst>
          </p:cNvPr>
          <p:cNvSpPr>
            <a:spLocks noGrp="1"/>
          </p:cNvSpPr>
          <p:nvPr>
            <p:ph type="title"/>
          </p:nvPr>
        </p:nvSpPr>
        <p:spPr/>
        <p:txBody>
          <a:bodyPr/>
          <a:lstStyle/>
          <a:p>
            <a:r>
              <a:rPr lang="en-US" dirty="0"/>
              <a:t>ii. Attack_2</a:t>
            </a:r>
          </a:p>
        </p:txBody>
      </p:sp>
      <p:sp>
        <p:nvSpPr>
          <p:cNvPr id="3" name="Content Placeholder 2">
            <a:extLst>
              <a:ext uri="{FF2B5EF4-FFF2-40B4-BE49-F238E27FC236}">
                <a16:creationId xmlns:a16="http://schemas.microsoft.com/office/drawing/2014/main" id="{EE5AEFEE-0D25-3866-1671-74A95BA8C787}"/>
              </a:ext>
            </a:extLst>
          </p:cNvPr>
          <p:cNvSpPr>
            <a:spLocks noGrp="1"/>
          </p:cNvSpPr>
          <p:nvPr>
            <p:ph idx="1"/>
          </p:nvPr>
        </p:nvSpPr>
        <p:spPr/>
        <p:txBody>
          <a:bodyPr/>
          <a:lstStyle/>
          <a:p>
            <a:pPr marL="0" indent="0">
              <a:buNone/>
            </a:pPr>
            <a:r>
              <a:rPr lang="en-US" b="1" dirty="0"/>
              <a:t>ii.5. Retest</a:t>
            </a:r>
          </a:p>
          <a:p>
            <a:pPr marL="0" indent="0">
              <a:buNone/>
            </a:pPr>
            <a:endParaRPr lang="en-US" dirty="0"/>
          </a:p>
        </p:txBody>
      </p:sp>
      <p:pic>
        <p:nvPicPr>
          <p:cNvPr id="5" name="Picture 4">
            <a:extLst>
              <a:ext uri="{FF2B5EF4-FFF2-40B4-BE49-F238E27FC236}">
                <a16:creationId xmlns:a16="http://schemas.microsoft.com/office/drawing/2014/main" id="{C79BF40B-31BD-F7A8-8397-B0EC30E8DAF1}"/>
              </a:ext>
            </a:extLst>
          </p:cNvPr>
          <p:cNvPicPr>
            <a:picLocks noChangeAspect="1"/>
          </p:cNvPicPr>
          <p:nvPr/>
        </p:nvPicPr>
        <p:blipFill>
          <a:blip r:embed="rId2"/>
          <a:stretch>
            <a:fillRect/>
          </a:stretch>
        </p:blipFill>
        <p:spPr>
          <a:xfrm>
            <a:off x="949007" y="2774215"/>
            <a:ext cx="2209332" cy="1394662"/>
          </a:xfrm>
          <a:prstGeom prst="rect">
            <a:avLst/>
          </a:prstGeom>
        </p:spPr>
      </p:pic>
      <p:pic>
        <p:nvPicPr>
          <p:cNvPr id="7" name="Picture 6">
            <a:extLst>
              <a:ext uri="{FF2B5EF4-FFF2-40B4-BE49-F238E27FC236}">
                <a16:creationId xmlns:a16="http://schemas.microsoft.com/office/drawing/2014/main" id="{C391F3B7-5AC2-202E-A51A-EBDF0F6D84DB}"/>
              </a:ext>
            </a:extLst>
          </p:cNvPr>
          <p:cNvPicPr>
            <a:picLocks noChangeAspect="1"/>
          </p:cNvPicPr>
          <p:nvPr/>
        </p:nvPicPr>
        <p:blipFill>
          <a:blip r:embed="rId3"/>
          <a:stretch>
            <a:fillRect/>
          </a:stretch>
        </p:blipFill>
        <p:spPr>
          <a:xfrm>
            <a:off x="3755922" y="2438401"/>
            <a:ext cx="1897626" cy="1730476"/>
          </a:xfrm>
          <a:prstGeom prst="rect">
            <a:avLst/>
          </a:prstGeom>
        </p:spPr>
      </p:pic>
      <p:pic>
        <p:nvPicPr>
          <p:cNvPr id="9" name="Picture 8">
            <a:extLst>
              <a:ext uri="{FF2B5EF4-FFF2-40B4-BE49-F238E27FC236}">
                <a16:creationId xmlns:a16="http://schemas.microsoft.com/office/drawing/2014/main" id="{34C813DD-E1CE-214C-E8E8-76EBBE5E5A3E}"/>
              </a:ext>
            </a:extLst>
          </p:cNvPr>
          <p:cNvPicPr>
            <a:picLocks noChangeAspect="1"/>
          </p:cNvPicPr>
          <p:nvPr/>
        </p:nvPicPr>
        <p:blipFill>
          <a:blip r:embed="rId4"/>
          <a:stretch>
            <a:fillRect/>
          </a:stretch>
        </p:blipFill>
        <p:spPr>
          <a:xfrm>
            <a:off x="6251131" y="2416032"/>
            <a:ext cx="4001058" cy="1752845"/>
          </a:xfrm>
          <a:prstGeom prst="rect">
            <a:avLst/>
          </a:prstGeom>
        </p:spPr>
      </p:pic>
      <p:sp>
        <p:nvSpPr>
          <p:cNvPr id="10" name="Rectangle 9">
            <a:extLst>
              <a:ext uri="{FF2B5EF4-FFF2-40B4-BE49-F238E27FC236}">
                <a16:creationId xmlns:a16="http://schemas.microsoft.com/office/drawing/2014/main" id="{A08BA262-AA2D-4575-3713-7A38B738F02B}"/>
              </a:ext>
            </a:extLst>
          </p:cNvPr>
          <p:cNvSpPr/>
          <p:nvPr/>
        </p:nvSpPr>
        <p:spPr>
          <a:xfrm>
            <a:off x="949007" y="4168877"/>
            <a:ext cx="2209332"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Original</a:t>
            </a:r>
          </a:p>
        </p:txBody>
      </p:sp>
      <p:sp>
        <p:nvSpPr>
          <p:cNvPr id="12" name="Rectangle 11">
            <a:extLst>
              <a:ext uri="{FF2B5EF4-FFF2-40B4-BE49-F238E27FC236}">
                <a16:creationId xmlns:a16="http://schemas.microsoft.com/office/drawing/2014/main" id="{D2CD1BEE-30C2-2BC0-21AC-A16C8D7C1FB5}"/>
              </a:ext>
            </a:extLst>
          </p:cNvPr>
          <p:cNvSpPr/>
          <p:nvPr/>
        </p:nvSpPr>
        <p:spPr>
          <a:xfrm>
            <a:off x="3755922" y="4151414"/>
            <a:ext cx="1897626"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Adversarial</a:t>
            </a:r>
          </a:p>
        </p:txBody>
      </p:sp>
      <p:sp>
        <p:nvSpPr>
          <p:cNvPr id="14" name="Rectangle 13">
            <a:extLst>
              <a:ext uri="{FF2B5EF4-FFF2-40B4-BE49-F238E27FC236}">
                <a16:creationId xmlns:a16="http://schemas.microsoft.com/office/drawing/2014/main" id="{D43255A2-9F41-6ECC-147D-0D8B265308FF}"/>
              </a:ext>
            </a:extLst>
          </p:cNvPr>
          <p:cNvSpPr/>
          <p:nvPr/>
        </p:nvSpPr>
        <p:spPr>
          <a:xfrm>
            <a:off x="6251131" y="4151414"/>
            <a:ext cx="4001058"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Prediction</a:t>
            </a:r>
          </a:p>
        </p:txBody>
      </p:sp>
    </p:spTree>
    <p:extLst>
      <p:ext uri="{BB962C8B-B14F-4D97-AF65-F5344CB8AC3E}">
        <p14:creationId xmlns:p14="http://schemas.microsoft.com/office/powerpoint/2010/main" val="1853601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017E2-7F6E-BE3D-9562-CD90A8C11A45}"/>
              </a:ext>
            </a:extLst>
          </p:cNvPr>
          <p:cNvSpPr>
            <a:spLocks noGrp="1"/>
          </p:cNvSpPr>
          <p:nvPr>
            <p:ph type="title"/>
          </p:nvPr>
        </p:nvSpPr>
        <p:spPr>
          <a:xfrm>
            <a:off x="838200" y="0"/>
            <a:ext cx="10515600" cy="1325563"/>
          </a:xfrm>
        </p:spPr>
        <p:txBody>
          <a:bodyPr>
            <a:normAutofit/>
          </a:bodyPr>
          <a:lstStyle/>
          <a:p>
            <a:r>
              <a:rPr lang="en-US" dirty="0"/>
              <a:t>iii. Attack_3</a:t>
            </a:r>
          </a:p>
        </p:txBody>
      </p:sp>
      <p:sp>
        <p:nvSpPr>
          <p:cNvPr id="3" name="Content Placeholder 2">
            <a:extLst>
              <a:ext uri="{FF2B5EF4-FFF2-40B4-BE49-F238E27FC236}">
                <a16:creationId xmlns:a16="http://schemas.microsoft.com/office/drawing/2014/main" id="{7EE4924A-9D5F-1D43-9ABF-DCE38EF75354}"/>
              </a:ext>
            </a:extLst>
          </p:cNvPr>
          <p:cNvSpPr>
            <a:spLocks noGrp="1"/>
          </p:cNvSpPr>
          <p:nvPr>
            <p:ph idx="1"/>
          </p:nvPr>
        </p:nvSpPr>
        <p:spPr>
          <a:xfrm>
            <a:off x="838200" y="1253330"/>
            <a:ext cx="10515600" cy="5604669"/>
          </a:xfrm>
        </p:spPr>
        <p:txBody>
          <a:bodyPr/>
          <a:lstStyle/>
          <a:p>
            <a:pPr marL="0" indent="0">
              <a:buNone/>
            </a:pPr>
            <a:r>
              <a:rPr lang="en-US" b="1" dirty="0"/>
              <a:t>iii.1. Objective </a:t>
            </a:r>
          </a:p>
          <a:p>
            <a:r>
              <a:rPr lang="en-US" dirty="0"/>
              <a:t>To identify whether the prediction service exposed unnecessary information</a:t>
            </a:r>
          </a:p>
          <a:p>
            <a:pPr marL="0" lvl="0" indent="0">
              <a:buNone/>
            </a:pPr>
            <a:r>
              <a:rPr lang="en-US" b="1" dirty="0"/>
              <a:t>iii.2. Observed weakness</a:t>
            </a:r>
          </a:p>
          <a:p>
            <a:r>
              <a:rPr lang="en-US" dirty="0"/>
              <a:t>Metadata leakage</a:t>
            </a:r>
          </a:p>
          <a:p>
            <a:pPr marL="0" indent="0">
              <a:buNone/>
            </a:pPr>
            <a:endParaRPr lang="en-US" dirty="0"/>
          </a:p>
        </p:txBody>
      </p:sp>
      <p:sp>
        <p:nvSpPr>
          <p:cNvPr id="6" name="Rectangle 5">
            <a:extLst>
              <a:ext uri="{FF2B5EF4-FFF2-40B4-BE49-F238E27FC236}">
                <a16:creationId xmlns:a16="http://schemas.microsoft.com/office/drawing/2014/main" id="{F0D6B004-7DF0-D157-663F-2C90DAB1E688}"/>
              </a:ext>
            </a:extLst>
          </p:cNvPr>
          <p:cNvSpPr/>
          <p:nvPr/>
        </p:nvSpPr>
        <p:spPr>
          <a:xfrm>
            <a:off x="1122945" y="6022936"/>
            <a:ext cx="6015145" cy="4111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Metadata leakage</a:t>
            </a:r>
          </a:p>
        </p:txBody>
      </p:sp>
      <p:pic>
        <p:nvPicPr>
          <p:cNvPr id="8" name="Picture 7">
            <a:extLst>
              <a:ext uri="{FF2B5EF4-FFF2-40B4-BE49-F238E27FC236}">
                <a16:creationId xmlns:a16="http://schemas.microsoft.com/office/drawing/2014/main" id="{5A493772-CEF6-7D40-C853-A6BAC66060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2946" y="4055664"/>
            <a:ext cx="6015145" cy="1954448"/>
          </a:xfrm>
          <a:prstGeom prst="rect">
            <a:avLst/>
          </a:prstGeom>
        </p:spPr>
      </p:pic>
    </p:spTree>
    <p:extLst>
      <p:ext uri="{BB962C8B-B14F-4D97-AF65-F5344CB8AC3E}">
        <p14:creationId xmlns:p14="http://schemas.microsoft.com/office/powerpoint/2010/main" val="767339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7023D-3317-5EB8-96C8-CCCA02292CB1}"/>
              </a:ext>
            </a:extLst>
          </p:cNvPr>
          <p:cNvSpPr>
            <a:spLocks noGrp="1"/>
          </p:cNvSpPr>
          <p:nvPr>
            <p:ph type="title"/>
          </p:nvPr>
        </p:nvSpPr>
        <p:spPr/>
        <p:txBody>
          <a:bodyPr/>
          <a:lstStyle/>
          <a:p>
            <a:r>
              <a:rPr lang="en-US" dirty="0"/>
              <a:t>iii. Attack_3</a:t>
            </a:r>
          </a:p>
        </p:txBody>
      </p:sp>
      <p:sp>
        <p:nvSpPr>
          <p:cNvPr id="3" name="Content Placeholder 2">
            <a:extLst>
              <a:ext uri="{FF2B5EF4-FFF2-40B4-BE49-F238E27FC236}">
                <a16:creationId xmlns:a16="http://schemas.microsoft.com/office/drawing/2014/main" id="{FC90A2C6-6665-1A1F-76F5-02C8AF7FCD77}"/>
              </a:ext>
            </a:extLst>
          </p:cNvPr>
          <p:cNvSpPr>
            <a:spLocks noGrp="1"/>
          </p:cNvSpPr>
          <p:nvPr>
            <p:ph idx="1"/>
          </p:nvPr>
        </p:nvSpPr>
        <p:spPr/>
        <p:txBody>
          <a:bodyPr/>
          <a:lstStyle/>
          <a:p>
            <a:pPr marL="0" lvl="0" indent="0">
              <a:buNone/>
            </a:pPr>
            <a:r>
              <a:rPr lang="en-US" b="1" dirty="0"/>
              <a:t>iii.2. Observed weakness</a:t>
            </a:r>
          </a:p>
          <a:p>
            <a:r>
              <a:rPr lang="en-US" dirty="0"/>
              <a:t>Metadata leakage</a:t>
            </a:r>
          </a:p>
          <a:p>
            <a:pPr marL="0" indent="0">
              <a:buNone/>
            </a:pPr>
            <a:endParaRPr lang="en-US" dirty="0"/>
          </a:p>
        </p:txBody>
      </p:sp>
      <p:pic>
        <p:nvPicPr>
          <p:cNvPr id="5" name="Picture 4">
            <a:extLst>
              <a:ext uri="{FF2B5EF4-FFF2-40B4-BE49-F238E27FC236}">
                <a16:creationId xmlns:a16="http://schemas.microsoft.com/office/drawing/2014/main" id="{FFDB2E59-2DE5-BC1A-9C95-EE6E0BF045EA}"/>
              </a:ext>
            </a:extLst>
          </p:cNvPr>
          <p:cNvPicPr>
            <a:picLocks noChangeAspect="1"/>
          </p:cNvPicPr>
          <p:nvPr/>
        </p:nvPicPr>
        <p:blipFill>
          <a:blip r:embed="rId2"/>
          <a:stretch>
            <a:fillRect/>
          </a:stretch>
        </p:blipFill>
        <p:spPr>
          <a:xfrm>
            <a:off x="4577002" y="2855088"/>
            <a:ext cx="4668728" cy="2791733"/>
          </a:xfrm>
          <a:prstGeom prst="rect">
            <a:avLst/>
          </a:prstGeom>
        </p:spPr>
      </p:pic>
      <p:sp>
        <p:nvSpPr>
          <p:cNvPr id="6" name="Rectangle 5">
            <a:extLst>
              <a:ext uri="{FF2B5EF4-FFF2-40B4-BE49-F238E27FC236}">
                <a16:creationId xmlns:a16="http://schemas.microsoft.com/office/drawing/2014/main" id="{1C5347AC-C3B3-9CEB-09B2-F3B5A759F709}"/>
              </a:ext>
            </a:extLst>
          </p:cNvPr>
          <p:cNvSpPr/>
          <p:nvPr/>
        </p:nvSpPr>
        <p:spPr>
          <a:xfrm>
            <a:off x="4577002" y="5646821"/>
            <a:ext cx="4517837" cy="4170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Metadata Leakage</a:t>
            </a:r>
          </a:p>
        </p:txBody>
      </p:sp>
    </p:spTree>
    <p:extLst>
      <p:ext uri="{BB962C8B-B14F-4D97-AF65-F5344CB8AC3E}">
        <p14:creationId xmlns:p14="http://schemas.microsoft.com/office/powerpoint/2010/main" val="1805650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38EE5-FCD4-27C5-7305-3B36F2312183}"/>
              </a:ext>
            </a:extLst>
          </p:cNvPr>
          <p:cNvSpPr>
            <a:spLocks noGrp="1"/>
          </p:cNvSpPr>
          <p:nvPr>
            <p:ph type="title"/>
          </p:nvPr>
        </p:nvSpPr>
        <p:spPr/>
        <p:txBody>
          <a:bodyPr/>
          <a:lstStyle/>
          <a:p>
            <a:r>
              <a:rPr lang="en-US" dirty="0"/>
              <a:t>iii. </a:t>
            </a:r>
            <a:r>
              <a:rPr lang="en-US" dirty="0" err="1"/>
              <a:t>Attac</a:t>
            </a:r>
            <a:r>
              <a:rPr lang="en-US" dirty="0"/>
              <a:t>….</a:t>
            </a:r>
          </a:p>
        </p:txBody>
      </p:sp>
      <p:sp>
        <p:nvSpPr>
          <p:cNvPr id="3" name="Content Placeholder 2">
            <a:extLst>
              <a:ext uri="{FF2B5EF4-FFF2-40B4-BE49-F238E27FC236}">
                <a16:creationId xmlns:a16="http://schemas.microsoft.com/office/drawing/2014/main" id="{352220D6-9082-BBA2-F53E-B8BD24FBFA11}"/>
              </a:ext>
            </a:extLst>
          </p:cNvPr>
          <p:cNvSpPr>
            <a:spLocks noGrp="1"/>
          </p:cNvSpPr>
          <p:nvPr>
            <p:ph idx="1"/>
          </p:nvPr>
        </p:nvSpPr>
        <p:spPr/>
        <p:txBody>
          <a:bodyPr/>
          <a:lstStyle/>
          <a:p>
            <a:pPr marL="0" lvl="0" indent="0">
              <a:buNone/>
            </a:pPr>
            <a:r>
              <a:rPr lang="en-US" b="1" dirty="0"/>
              <a:t>iii.3. Mitigation</a:t>
            </a:r>
          </a:p>
          <a:p>
            <a:r>
              <a:rPr lang="en-US" dirty="0"/>
              <a:t>Disclose exposing unnecessary information in API responses.</a:t>
            </a:r>
          </a:p>
        </p:txBody>
      </p:sp>
    </p:spTree>
    <p:extLst>
      <p:ext uri="{BB962C8B-B14F-4D97-AF65-F5344CB8AC3E}">
        <p14:creationId xmlns:p14="http://schemas.microsoft.com/office/powerpoint/2010/main" val="54099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DDD75-5210-5E1A-5828-380E1D241AEA}"/>
              </a:ext>
            </a:extLst>
          </p:cNvPr>
          <p:cNvSpPr>
            <a:spLocks noGrp="1"/>
          </p:cNvSpPr>
          <p:nvPr>
            <p:ph type="title"/>
          </p:nvPr>
        </p:nvSpPr>
        <p:spPr/>
        <p:txBody>
          <a:bodyPr/>
          <a:lstStyle/>
          <a:p>
            <a:r>
              <a:rPr lang="en-US" dirty="0"/>
              <a:t>iii. </a:t>
            </a:r>
            <a:r>
              <a:rPr lang="en-US" dirty="0" err="1"/>
              <a:t>Attac</a:t>
            </a:r>
            <a:r>
              <a:rPr lang="en-US" dirty="0"/>
              <a:t>…</a:t>
            </a:r>
          </a:p>
        </p:txBody>
      </p:sp>
      <p:sp>
        <p:nvSpPr>
          <p:cNvPr id="3" name="Content Placeholder 2">
            <a:extLst>
              <a:ext uri="{FF2B5EF4-FFF2-40B4-BE49-F238E27FC236}">
                <a16:creationId xmlns:a16="http://schemas.microsoft.com/office/drawing/2014/main" id="{81ED60BA-3F60-5518-A1D3-8648D5282F91}"/>
              </a:ext>
            </a:extLst>
          </p:cNvPr>
          <p:cNvSpPr>
            <a:spLocks noGrp="1"/>
          </p:cNvSpPr>
          <p:nvPr>
            <p:ph idx="1"/>
          </p:nvPr>
        </p:nvSpPr>
        <p:spPr/>
        <p:txBody>
          <a:bodyPr/>
          <a:lstStyle/>
          <a:p>
            <a:pPr marL="0" lvl="0" indent="0">
              <a:buNone/>
            </a:pPr>
            <a:r>
              <a:rPr lang="en-US" b="1" dirty="0"/>
              <a:t>iii.4. Retest </a:t>
            </a:r>
          </a:p>
          <a:p>
            <a:pPr marL="0" indent="0">
              <a:buNone/>
            </a:pPr>
            <a:endParaRPr lang="en-US" dirty="0"/>
          </a:p>
        </p:txBody>
      </p:sp>
      <p:pic>
        <p:nvPicPr>
          <p:cNvPr id="5" name="Picture 4">
            <a:extLst>
              <a:ext uri="{FF2B5EF4-FFF2-40B4-BE49-F238E27FC236}">
                <a16:creationId xmlns:a16="http://schemas.microsoft.com/office/drawing/2014/main" id="{8BDD467B-7906-AA1B-A7B4-CA19E4F550CB}"/>
              </a:ext>
            </a:extLst>
          </p:cNvPr>
          <p:cNvPicPr>
            <a:picLocks noChangeAspect="1"/>
          </p:cNvPicPr>
          <p:nvPr/>
        </p:nvPicPr>
        <p:blipFill>
          <a:blip r:embed="rId2"/>
          <a:stretch>
            <a:fillRect/>
          </a:stretch>
        </p:blipFill>
        <p:spPr>
          <a:xfrm>
            <a:off x="610688" y="2619975"/>
            <a:ext cx="3335670" cy="1942459"/>
          </a:xfrm>
          <a:prstGeom prst="rect">
            <a:avLst/>
          </a:prstGeom>
        </p:spPr>
      </p:pic>
      <p:pic>
        <p:nvPicPr>
          <p:cNvPr id="7" name="Picture 6">
            <a:extLst>
              <a:ext uri="{FF2B5EF4-FFF2-40B4-BE49-F238E27FC236}">
                <a16:creationId xmlns:a16="http://schemas.microsoft.com/office/drawing/2014/main" id="{7BE1CB6B-6952-0656-8AE2-3E94741C3EEE}"/>
              </a:ext>
            </a:extLst>
          </p:cNvPr>
          <p:cNvPicPr>
            <a:picLocks noChangeAspect="1"/>
          </p:cNvPicPr>
          <p:nvPr/>
        </p:nvPicPr>
        <p:blipFill>
          <a:blip r:embed="rId3"/>
          <a:stretch>
            <a:fillRect/>
          </a:stretch>
        </p:blipFill>
        <p:spPr>
          <a:xfrm>
            <a:off x="4173870" y="2619974"/>
            <a:ext cx="4359242" cy="1942459"/>
          </a:xfrm>
          <a:prstGeom prst="rect">
            <a:avLst/>
          </a:prstGeom>
        </p:spPr>
      </p:pic>
      <p:sp>
        <p:nvSpPr>
          <p:cNvPr id="8" name="Rectangle 7">
            <a:extLst>
              <a:ext uri="{FF2B5EF4-FFF2-40B4-BE49-F238E27FC236}">
                <a16:creationId xmlns:a16="http://schemas.microsoft.com/office/drawing/2014/main" id="{A0DDCD74-B4A7-E111-0BA3-C3A0EF9B4AAE}"/>
              </a:ext>
            </a:extLst>
          </p:cNvPr>
          <p:cNvSpPr/>
          <p:nvPr/>
        </p:nvSpPr>
        <p:spPr>
          <a:xfrm>
            <a:off x="610688" y="4552452"/>
            <a:ext cx="7922424" cy="4816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Metadata disabled</a:t>
            </a:r>
          </a:p>
        </p:txBody>
      </p:sp>
    </p:spTree>
    <p:extLst>
      <p:ext uri="{BB962C8B-B14F-4D97-AF65-F5344CB8AC3E}">
        <p14:creationId xmlns:p14="http://schemas.microsoft.com/office/powerpoint/2010/main" val="1552902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162E6-E2A2-E950-8943-71921D3E0CB1}"/>
              </a:ext>
            </a:extLst>
          </p:cNvPr>
          <p:cNvSpPr>
            <a:spLocks noGrp="1"/>
          </p:cNvSpPr>
          <p:nvPr>
            <p:ph type="title"/>
          </p:nvPr>
        </p:nvSpPr>
        <p:spPr/>
        <p:txBody>
          <a:bodyPr>
            <a:normAutofit/>
          </a:bodyPr>
          <a:lstStyle/>
          <a:p>
            <a:r>
              <a:rPr lang="en-US" dirty="0"/>
              <a:t>F. Reproducibility</a:t>
            </a:r>
          </a:p>
        </p:txBody>
      </p:sp>
      <p:sp>
        <p:nvSpPr>
          <p:cNvPr id="3" name="Content Placeholder 2">
            <a:extLst>
              <a:ext uri="{FF2B5EF4-FFF2-40B4-BE49-F238E27FC236}">
                <a16:creationId xmlns:a16="http://schemas.microsoft.com/office/drawing/2014/main" id="{BED7762B-B302-A5F7-C491-219A9585899D}"/>
              </a:ext>
            </a:extLst>
          </p:cNvPr>
          <p:cNvSpPr>
            <a:spLocks noGrp="1"/>
          </p:cNvSpPr>
          <p:nvPr>
            <p:ph idx="1"/>
          </p:nvPr>
        </p:nvSpPr>
        <p:spPr/>
        <p:txBody>
          <a:bodyPr/>
          <a:lstStyle/>
          <a:p>
            <a:pPr marL="742950" lvl="0" indent="-742950">
              <a:buFont typeface="+mj-lt"/>
              <a:buAutoNum type="arabicPeriod"/>
            </a:pPr>
            <a:r>
              <a:rPr lang="en-US" dirty="0"/>
              <a:t>Clone GitHub repository</a:t>
            </a:r>
          </a:p>
          <a:p>
            <a:pPr marL="742950" lvl="0" indent="-742950">
              <a:buFont typeface="+mj-lt"/>
              <a:buAutoNum type="arabicPeriod"/>
            </a:pPr>
            <a:r>
              <a:rPr lang="en-US" dirty="0"/>
              <a:t>Install requirements</a:t>
            </a:r>
          </a:p>
          <a:p>
            <a:pPr marL="742950" lvl="0" indent="-742950">
              <a:buFont typeface="+mj-lt"/>
              <a:buAutoNum type="arabicPeriod"/>
            </a:pPr>
            <a:r>
              <a:rPr lang="en-US" dirty="0"/>
              <a:t>Train model</a:t>
            </a:r>
          </a:p>
          <a:p>
            <a:pPr marL="742950" lvl="0" indent="-742950">
              <a:buFont typeface="+mj-lt"/>
              <a:buAutoNum type="arabicPeriod"/>
            </a:pPr>
            <a:r>
              <a:rPr lang="en-US" dirty="0"/>
              <a:t>Start Docker container</a:t>
            </a:r>
          </a:p>
          <a:p>
            <a:pPr marL="742950" lvl="0" indent="-742950">
              <a:buFont typeface="+mj-lt"/>
              <a:buAutoNum type="arabicPeriod"/>
            </a:pPr>
            <a:r>
              <a:rPr lang="en-US" dirty="0"/>
              <a:t>Run attack scripts</a:t>
            </a:r>
          </a:p>
          <a:p>
            <a:pPr marL="742950" lvl="0" indent="-742950">
              <a:buFont typeface="+mj-lt"/>
              <a:buAutoNum type="arabicPeriod"/>
            </a:pPr>
            <a:r>
              <a:rPr lang="en-US" dirty="0"/>
              <a:t>Start API</a:t>
            </a:r>
          </a:p>
        </p:txBody>
      </p:sp>
    </p:spTree>
    <p:extLst>
      <p:ext uri="{BB962C8B-B14F-4D97-AF65-F5344CB8AC3E}">
        <p14:creationId xmlns:p14="http://schemas.microsoft.com/office/powerpoint/2010/main" val="2646738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2A95F-1F28-4849-41FB-44799EBAC909}"/>
              </a:ext>
            </a:extLst>
          </p:cNvPr>
          <p:cNvSpPr>
            <a:spLocks noGrp="1"/>
          </p:cNvSpPr>
          <p:nvPr>
            <p:ph type="title"/>
          </p:nvPr>
        </p:nvSpPr>
        <p:spPr/>
        <p:txBody>
          <a:bodyPr>
            <a:normAutofit/>
          </a:bodyPr>
          <a:lstStyle/>
          <a:p>
            <a:r>
              <a:rPr lang="en-US" dirty="0"/>
              <a:t>G. Limitations</a:t>
            </a:r>
          </a:p>
        </p:txBody>
      </p:sp>
      <p:sp>
        <p:nvSpPr>
          <p:cNvPr id="3" name="Content Placeholder 2">
            <a:extLst>
              <a:ext uri="{FF2B5EF4-FFF2-40B4-BE49-F238E27FC236}">
                <a16:creationId xmlns:a16="http://schemas.microsoft.com/office/drawing/2014/main" id="{0C22205C-93DB-716D-5C47-7C1508A4F153}"/>
              </a:ext>
            </a:extLst>
          </p:cNvPr>
          <p:cNvSpPr>
            <a:spLocks noGrp="1"/>
          </p:cNvSpPr>
          <p:nvPr>
            <p:ph idx="1"/>
          </p:nvPr>
        </p:nvSpPr>
        <p:spPr/>
        <p:txBody>
          <a:bodyPr/>
          <a:lstStyle/>
          <a:p>
            <a:r>
              <a:rPr lang="en-US" dirty="0"/>
              <a:t>Small model</a:t>
            </a:r>
          </a:p>
          <a:p>
            <a:r>
              <a:rPr lang="en-US" dirty="0"/>
              <a:t>MNIST (small dataset)</a:t>
            </a:r>
          </a:p>
          <a:p>
            <a:r>
              <a:rPr lang="en-US" dirty="0"/>
              <a:t>Local environment only</a:t>
            </a:r>
          </a:p>
          <a:p>
            <a:endParaRPr lang="en-US" dirty="0"/>
          </a:p>
        </p:txBody>
      </p:sp>
    </p:spTree>
    <p:extLst>
      <p:ext uri="{BB962C8B-B14F-4D97-AF65-F5344CB8AC3E}">
        <p14:creationId xmlns:p14="http://schemas.microsoft.com/office/powerpoint/2010/main" val="2197756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B9176-CF72-0F82-C5EF-552BE2EDFF10}"/>
              </a:ext>
            </a:extLst>
          </p:cNvPr>
          <p:cNvSpPr>
            <a:spLocks noGrp="1"/>
          </p:cNvSpPr>
          <p:nvPr>
            <p:ph type="title"/>
          </p:nvPr>
        </p:nvSpPr>
        <p:spPr/>
        <p:txBody>
          <a:bodyPr>
            <a:normAutofit/>
          </a:bodyPr>
          <a:lstStyle/>
          <a:p>
            <a:r>
              <a:rPr lang="en-US" dirty="0"/>
              <a:t>H. Conclusion</a:t>
            </a:r>
          </a:p>
        </p:txBody>
      </p:sp>
      <p:sp>
        <p:nvSpPr>
          <p:cNvPr id="3" name="Content Placeholder 2">
            <a:extLst>
              <a:ext uri="{FF2B5EF4-FFF2-40B4-BE49-F238E27FC236}">
                <a16:creationId xmlns:a16="http://schemas.microsoft.com/office/drawing/2014/main" id="{CDAFBB9F-FD7D-EAC9-4A5A-D81638FBB674}"/>
              </a:ext>
            </a:extLst>
          </p:cNvPr>
          <p:cNvSpPr>
            <a:spLocks noGrp="1"/>
          </p:cNvSpPr>
          <p:nvPr>
            <p:ph idx="1"/>
          </p:nvPr>
        </p:nvSpPr>
        <p:spPr/>
        <p:txBody>
          <a:bodyPr/>
          <a:lstStyle/>
          <a:p>
            <a:pPr marL="0" indent="0">
              <a:buNone/>
            </a:pPr>
            <a:r>
              <a:rPr lang="en-US" dirty="0"/>
              <a:t>In this project an image classification AI is built. Original image prediction is tested. Adversarial and metadata leakage attacks were demonstrated. Mitigation to adversarial and data leakage attack was demonstrated successfully. Overall, the size and quality of the dataset are important factors in AI prediction performance.</a:t>
            </a:r>
          </a:p>
        </p:txBody>
      </p:sp>
    </p:spTree>
    <p:extLst>
      <p:ext uri="{BB962C8B-B14F-4D97-AF65-F5344CB8AC3E}">
        <p14:creationId xmlns:p14="http://schemas.microsoft.com/office/powerpoint/2010/main" val="829629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556</TotalTime>
  <Words>595</Words>
  <Application>Microsoft Office PowerPoint</Application>
  <PresentationFormat>Widescreen</PresentationFormat>
  <Paragraphs>105</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AI Security Red Team Assessment Report</vt:lpstr>
      <vt:lpstr>A. Executive Summary</vt:lpstr>
      <vt:lpstr>B. Objectives</vt:lpstr>
      <vt:lpstr>C. System overview</vt:lpstr>
      <vt:lpstr>D. Red Team Scope</vt:lpstr>
      <vt:lpstr>E. Methodology</vt:lpstr>
      <vt:lpstr>E. Methodo….</vt:lpstr>
      <vt:lpstr>i. Attack_1</vt:lpstr>
      <vt:lpstr>i. Atta….</vt:lpstr>
      <vt:lpstr>i. Atta….</vt:lpstr>
      <vt:lpstr>i. Atta….</vt:lpstr>
      <vt:lpstr>ii. Attack_2</vt:lpstr>
      <vt:lpstr>ii. Attack_2</vt:lpstr>
      <vt:lpstr>ii. Attack_2</vt:lpstr>
      <vt:lpstr>ii. Attack_2</vt:lpstr>
      <vt:lpstr>iii. Attack_3</vt:lpstr>
      <vt:lpstr>iii. Attack_3</vt:lpstr>
      <vt:lpstr>iii. Attac….</vt:lpstr>
      <vt:lpstr>iii. Attac…</vt:lpstr>
      <vt:lpstr>F. Reproducibility</vt:lpstr>
      <vt:lpstr>G. Limitations</vt:lpstr>
      <vt:lpstr>H.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Sonof God no</dc:creator>
  <cp:lastModifiedBy>Sonof God no</cp:lastModifiedBy>
  <cp:revision>30</cp:revision>
  <dcterms:created xsi:type="dcterms:W3CDTF">2026-09-26T11:16:20Z</dcterms:created>
  <dcterms:modified xsi:type="dcterms:W3CDTF">2026-09-29T07:31:47Z</dcterms:modified>
</cp:coreProperties>
</file>